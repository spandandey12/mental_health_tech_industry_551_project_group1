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3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846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excited to present our Workplace Mental Health Dashboard today. This project, developed for DATA 551, aims to illuminate the complex relationship between workplace environments and mental health treatment within the tech sector. We'll guide you through our research, the interactive dashboard we've built, and the critical insights we've discovered. Chongwen Sun will kick us off.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industry is known for its innovation, but it's also notorious for its high-pressure culture. Our motivation stems from the realization that mental health is often overlooked until it reaches a crisis point. By visualizing this data, we aim to provide organizations with the evidence they need to move from reactive to proactive support systems. This is why understanding mental health in tech isn't just a nice-to-have; it's a business imperative. Chongwen will continue with our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focus our analysis, we established several core research questions. We wanted to know if certain demographic groups are more or less likely to seek help. Furthermore, we explored how organizational factors—like the size of the company or the flexibility of remote work—influence the support infrastructure available to employees. Understanding these intersections is key to effective organizational intervention. Manpreet Singh will now discuss our data foundation.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is built upon the OSMI 2014 survey, which is one of the most comprehensive datasets on this topic. It captures a wide array of variables, from personal demographics to specific workplace policies. We took great care in the data cleaning phase to ensure that our visualizations are based on clean, reliable information. This robust dataset provides a statistically significant look at industry health. Manpreet will now hand it over to Spandan Dey to talk about our dashboard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tool itself. The Workplace Mental Health Dashboard is designed for interactivity. The left sidebar allows users to filter the data across multiple dimensions, making it easy to compare different groups. At the top, we provide high-level KPIs that give an immediate snapshot of the current data segment. This architecture allows for both broad overviews and deep-dive analysis. Spandan will now walk us through some key insights.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Chongwen Sun: We've just explored how our dashboard helps visualize data; now let's dive into what that data actually tells us about treatment and demographics. We found that mid-career professionals, specifically those between 30 and 49, show the highest rates of proactive mental health management. This might reflect a greater awareness or perhaps increased life pressures during these years. Also, it's clear that female and non-binary employees are more likely to seek professional help, which suggests different approaches to mental health across genders. And here's a critical point: work interference often acts as a direct trigger for someone to seek care. This leads us right into understanding the organizational factors at play.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Chongwen Sun: Building on those demographic insights, we now turn our attention to the organizational environment and where support gaps exist. One of our most striking findings is that over 40% of employees don't even know if their company offers mental health benefits. This isn't just about having benefits; it's about communicating them effectively. We also observed that larger organizations are much better at providing structured wellness programs. And perhaps most importantly, having mental health insurance coverage is the strongest predictor of whether an employee will actually seek help. So, what does all this mean for actionable strategies? Let's look at our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Manpreet Singh: To wrap up, our data points toward three key actions for creating a healthier workplace. First, transparency is essential—employees must know their options. Second, support shouldn't be "one size fits all." Finally, we must foster a culture where seeking help is seen as a sign of strength, not weakness. Thank you for your attention, and we are now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000125" y="749396"/>
            <a:ext cx="7143750" cy="1980214"/>
          </a:xfrm>
          <a:prstGeom prst="rect">
            <a:avLst/>
          </a:prstGeom>
          <a:noFill/>
          <a:ln/>
        </p:spPr>
        <p:txBody>
          <a:bodyPr wrap="square" lIns="0" tIns="0" rIns="0" bIns="0" rtlCol="0" anchor="t">
            <a:spAutoFit/>
          </a:bodyPr>
          <a:lstStyle/>
          <a:p>
            <a:pPr marL="0" indent="0" algn="ctr">
              <a:lnSpc>
                <a:spcPts val="5200"/>
              </a:lnSpc>
              <a:buNone/>
            </a:pPr>
            <a:r>
              <a:rPr lang="en-US" sz="4353" b="1" kern="0" spc="-2" dirty="0">
                <a:solidFill>
                  <a:srgbClr val="FFFFFF"/>
                </a:solidFill>
                <a:latin typeface="Inter" pitchFamily="34" charset="0"/>
                <a:ea typeface="Inter" pitchFamily="34" charset="-122"/>
                <a:cs typeface="Inter" pitchFamily="34" charset="-120"/>
              </a:rPr>
              <a:t>Workplace Mental Health</a:t>
            </a:r>
            <a:r>
              <a:rPr lang="en-US" sz="4353" b="1" kern="0" spc="-2" dirty="0">
                <a:solidFill>
                  <a:srgbClr val="B0B3B8"/>
                </a:solidFill>
                <a:latin typeface="Inter" pitchFamily="34" charset="0"/>
                <a:ea typeface="Inter" pitchFamily="34" charset="-122"/>
                <a:cs typeface="Inter" pitchFamily="34" charset="-120"/>
              </a:rPr>
              <a:t>
</a:t>
            </a:r>
            <a:r>
              <a:rPr lang="en-US" sz="4353" b="1" kern="0" spc="-2" dirty="0">
                <a:solidFill>
                  <a:srgbClr val="FFFFFF"/>
                </a:solidFill>
                <a:latin typeface="Inter" pitchFamily="34" charset="0"/>
                <a:ea typeface="Inter" pitchFamily="34" charset="-122"/>
                <a:cs typeface="Inter" pitchFamily="34" charset="-120"/>
              </a:rPr>
              <a:t>Dashboard</a:t>
            </a:r>
            <a:endParaRPr lang="en-US" sz="4353" dirty="0"/>
          </a:p>
        </p:txBody>
      </p:sp>
      <p:sp>
        <p:nvSpPr>
          <p:cNvPr id="5" name="Text 1"/>
          <p:cNvSpPr/>
          <p:nvPr/>
        </p:nvSpPr>
        <p:spPr>
          <a:xfrm>
            <a:off x="1000125" y="2901060"/>
            <a:ext cx="7143750" cy="276820"/>
          </a:xfrm>
          <a:prstGeom prst="rect">
            <a:avLst/>
          </a:prstGeom>
          <a:noFill/>
          <a:ln/>
        </p:spPr>
        <p:txBody>
          <a:bodyPr wrap="none" lIns="0" tIns="0" rIns="0" bIns="0" rtlCol="0" anchor="t">
            <a:spAutoFit/>
          </a:bodyPr>
          <a:lstStyle/>
          <a:p>
            <a:pPr marL="0" indent="0" algn="ctr">
              <a:lnSpc>
                <a:spcPts val="2200"/>
              </a:lnSpc>
              <a:buNone/>
            </a:pPr>
            <a:r>
              <a:rPr lang="en-US" sz="1602" b="1" kern="0" spc="3" dirty="0">
                <a:solidFill>
                  <a:srgbClr val="3B82F6"/>
                </a:solidFill>
                <a:latin typeface="Inter" pitchFamily="34" charset="0"/>
                <a:ea typeface="Inter" pitchFamily="34" charset="-122"/>
                <a:cs typeface="Inter" pitchFamily="34" charset="-120"/>
              </a:rPr>
              <a:t>DATA 551: INFORMATION VISUALIZATION</a:t>
            </a:r>
            <a:endParaRPr lang="en-US" sz="1602" dirty="0"/>
          </a:p>
        </p:txBody>
      </p:sp>
      <p:sp>
        <p:nvSpPr>
          <p:cNvPr id="6" name="Text 2"/>
          <p:cNvSpPr/>
          <p:nvPr/>
        </p:nvSpPr>
        <p:spPr>
          <a:xfrm>
            <a:off x="2110978" y="3985124"/>
            <a:ext cx="1285875" cy="207169"/>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Inter" pitchFamily="34" charset="0"/>
                <a:ea typeface="Inter" pitchFamily="34" charset="-122"/>
                <a:cs typeface="Inter" pitchFamily="34" charset="-120"/>
              </a:rPr>
              <a:t>Chongwen Sun</a:t>
            </a:r>
            <a:endParaRPr lang="en-US" sz="1193" dirty="0"/>
          </a:p>
        </p:txBody>
      </p:sp>
      <p:sp>
        <p:nvSpPr>
          <p:cNvPr id="8" name="Text 4"/>
          <p:cNvSpPr/>
          <p:nvPr/>
        </p:nvSpPr>
        <p:spPr>
          <a:xfrm>
            <a:off x="3739753" y="3985124"/>
            <a:ext cx="1344811" cy="207169"/>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Inter" pitchFamily="34" charset="0"/>
                <a:ea typeface="Inter" pitchFamily="34" charset="-122"/>
                <a:cs typeface="Inter" pitchFamily="34" charset="-120"/>
              </a:rPr>
              <a:t>Manpreet Singh</a:t>
            </a:r>
            <a:endParaRPr lang="en-US" sz="1193" dirty="0"/>
          </a:p>
        </p:txBody>
      </p:sp>
      <p:sp>
        <p:nvSpPr>
          <p:cNvPr id="10" name="Text 6"/>
          <p:cNvSpPr/>
          <p:nvPr/>
        </p:nvSpPr>
        <p:spPr>
          <a:xfrm>
            <a:off x="5427464" y="3985124"/>
            <a:ext cx="1605558" cy="207169"/>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Inter" pitchFamily="34" charset="0"/>
                <a:ea typeface="Inter" pitchFamily="34" charset="-122"/>
                <a:cs typeface="Inter" pitchFamily="34" charset="-120"/>
              </a:rPr>
              <a:t>Spandan Dey</a:t>
            </a:r>
            <a:endParaRPr lang="en-US" sz="119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8132"/>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BACKGROUND &amp; MOTIVATION</a:t>
            </a:r>
            <a:endParaRPr lang="en-US" sz="1193" dirty="0"/>
          </a:p>
        </p:txBody>
      </p:sp>
      <p:sp>
        <p:nvSpPr>
          <p:cNvPr id="5" name="Text 1"/>
          <p:cNvSpPr/>
          <p:nvPr/>
        </p:nvSpPr>
        <p:spPr>
          <a:xfrm>
            <a:off x="571500" y="7500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Why Mental Health Matters in Tech</a:t>
            </a:r>
            <a:endParaRPr lang="en-US" sz="3294" dirty="0"/>
          </a:p>
        </p:txBody>
      </p:sp>
      <p:sp>
        <p:nvSpPr>
          <p:cNvPr id="6" name="Shape 2"/>
          <p:cNvSpPr/>
          <p:nvPr/>
        </p:nvSpPr>
        <p:spPr>
          <a:xfrm>
            <a:off x="571500" y="1595903"/>
            <a:ext cx="2514600" cy="2800350"/>
          </a:xfrm>
          <a:prstGeom prst="rect">
            <a:avLst/>
          </a:prstGeom>
          <a:solidFill>
            <a:srgbClr val="FFFFFF">
              <a:alpha val="3000"/>
            </a:srgbClr>
          </a:solidFill>
          <a:ln w="9144">
            <a:solidFill>
              <a:srgbClr val="FFFFFF">
                <a:alpha val="8000"/>
              </a:srgbClr>
            </a:solidFill>
            <a:prstDash val="solid"/>
          </a:ln>
        </p:spPr>
        <p:txBody>
          <a:bodyPr/>
          <a:lstStyle/>
          <a:p>
            <a:endParaRPr lang="en-US"/>
          </a:p>
        </p:txBody>
      </p:sp>
      <p:sp>
        <p:nvSpPr>
          <p:cNvPr id="7" name="Shape 3"/>
          <p:cNvSpPr/>
          <p:nvPr/>
        </p:nvSpPr>
        <p:spPr>
          <a:xfrm>
            <a:off x="800100" y="1938803"/>
            <a:ext cx="457200" cy="457200"/>
          </a:xfrm>
          <a:prstGeom prst="rect">
            <a:avLst/>
          </a:prstGeom>
          <a:solidFill>
            <a:srgbClr val="3B82F6">
              <a:alpha val="10000"/>
            </a:srgbClr>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28688" y="2067390"/>
            <a:ext cx="200025" cy="200025"/>
          </a:xfrm>
          <a:prstGeom prst="rect">
            <a:avLst/>
          </a:prstGeom>
        </p:spPr>
      </p:pic>
      <p:sp>
        <p:nvSpPr>
          <p:cNvPr id="9" name="Text 4"/>
          <p:cNvSpPr/>
          <p:nvPr/>
        </p:nvSpPr>
        <p:spPr>
          <a:xfrm>
            <a:off x="800100" y="2624603"/>
            <a:ext cx="2047884"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Pervasive Stress</a:t>
            </a:r>
            <a:endParaRPr lang="en-US" sz="1397" dirty="0"/>
          </a:p>
        </p:txBody>
      </p:sp>
      <p:sp>
        <p:nvSpPr>
          <p:cNvPr id="10" name="Text 5"/>
          <p:cNvSpPr/>
          <p:nvPr/>
        </p:nvSpPr>
        <p:spPr>
          <a:xfrm>
            <a:off x="800100" y="3010365"/>
            <a:ext cx="2047884"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High-pressure environments, rapid cycles, and intense cognitive demands create unique challenges for mental well-being.</a:t>
            </a:r>
            <a:endParaRPr lang="en-US" sz="942" dirty="0"/>
          </a:p>
        </p:txBody>
      </p:sp>
      <p:sp>
        <p:nvSpPr>
          <p:cNvPr id="11" name="Shape 6"/>
          <p:cNvSpPr/>
          <p:nvPr/>
        </p:nvSpPr>
        <p:spPr>
          <a:xfrm>
            <a:off x="3305184" y="1595903"/>
            <a:ext cx="2519372" cy="2800350"/>
          </a:xfrm>
          <a:prstGeom prst="rect">
            <a:avLst/>
          </a:prstGeom>
          <a:solidFill>
            <a:srgbClr val="FFFFFF">
              <a:alpha val="3000"/>
            </a:srgbClr>
          </a:solidFill>
          <a:ln w="9144">
            <a:solidFill>
              <a:srgbClr val="FFFFFF">
                <a:alpha val="8000"/>
              </a:srgbClr>
            </a:solidFill>
            <a:prstDash val="solid"/>
          </a:ln>
        </p:spPr>
        <p:txBody>
          <a:bodyPr/>
          <a:lstStyle/>
          <a:p>
            <a:endParaRPr lang="en-US"/>
          </a:p>
        </p:txBody>
      </p:sp>
      <p:sp>
        <p:nvSpPr>
          <p:cNvPr id="12" name="Shape 7"/>
          <p:cNvSpPr/>
          <p:nvPr/>
        </p:nvSpPr>
        <p:spPr>
          <a:xfrm>
            <a:off x="3538528" y="1938803"/>
            <a:ext cx="457200" cy="457200"/>
          </a:xfrm>
          <a:prstGeom prst="rect">
            <a:avLst/>
          </a:prstGeom>
          <a:solidFill>
            <a:srgbClr val="3B82F6">
              <a:alpha val="10000"/>
            </a:srgbClr>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3667116" y="2067390"/>
            <a:ext cx="200025" cy="200025"/>
          </a:xfrm>
          <a:prstGeom prst="rect">
            <a:avLst/>
          </a:prstGeom>
        </p:spPr>
      </p:pic>
      <p:sp>
        <p:nvSpPr>
          <p:cNvPr id="14" name="Text 8"/>
          <p:cNvSpPr/>
          <p:nvPr/>
        </p:nvSpPr>
        <p:spPr>
          <a:xfrm>
            <a:off x="3538528" y="2624603"/>
            <a:ext cx="2052628"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Hidden Costs</a:t>
            </a:r>
            <a:endParaRPr lang="en-US" sz="1397" dirty="0"/>
          </a:p>
        </p:txBody>
      </p:sp>
      <p:sp>
        <p:nvSpPr>
          <p:cNvPr id="15" name="Text 9"/>
          <p:cNvSpPr/>
          <p:nvPr/>
        </p:nvSpPr>
        <p:spPr>
          <a:xfrm>
            <a:off x="3538528" y="3010365"/>
            <a:ext cx="2052628" cy="1028588"/>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Unaddressed issues lead to quantifiable losses in productivity, engagement, and talent retention across the industry.</a:t>
            </a:r>
            <a:endParaRPr lang="en-US" sz="942" dirty="0"/>
          </a:p>
        </p:txBody>
      </p:sp>
      <p:sp>
        <p:nvSpPr>
          <p:cNvPr id="16" name="Shape 10"/>
          <p:cNvSpPr/>
          <p:nvPr/>
        </p:nvSpPr>
        <p:spPr>
          <a:xfrm>
            <a:off x="6048356" y="1595903"/>
            <a:ext cx="2524116" cy="2800350"/>
          </a:xfrm>
          <a:prstGeom prst="rect">
            <a:avLst/>
          </a:prstGeom>
          <a:solidFill>
            <a:srgbClr val="FFFFFF">
              <a:alpha val="3000"/>
            </a:srgbClr>
          </a:solidFill>
          <a:ln w="9144">
            <a:solidFill>
              <a:srgbClr val="FFFFFF">
                <a:alpha val="8000"/>
              </a:srgbClr>
            </a:solidFill>
            <a:prstDash val="solid"/>
          </a:ln>
        </p:spPr>
        <p:txBody>
          <a:bodyPr/>
          <a:lstStyle/>
          <a:p>
            <a:endParaRPr lang="en-US"/>
          </a:p>
        </p:txBody>
      </p:sp>
      <p:sp>
        <p:nvSpPr>
          <p:cNvPr id="17" name="Shape 11"/>
          <p:cNvSpPr/>
          <p:nvPr/>
        </p:nvSpPr>
        <p:spPr>
          <a:xfrm>
            <a:off x="6286500" y="1938803"/>
            <a:ext cx="457200" cy="457200"/>
          </a:xfrm>
          <a:prstGeom prst="rect">
            <a:avLst/>
          </a:prstGeom>
          <a:solidFill>
            <a:srgbClr val="3B82F6">
              <a:alpha val="10000"/>
            </a:srgbClr>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415088" y="2067390"/>
            <a:ext cx="200025" cy="200025"/>
          </a:xfrm>
          <a:prstGeom prst="rect">
            <a:avLst/>
          </a:prstGeom>
        </p:spPr>
      </p:pic>
      <p:sp>
        <p:nvSpPr>
          <p:cNvPr id="19" name="Text 12"/>
          <p:cNvSpPr/>
          <p:nvPr/>
        </p:nvSpPr>
        <p:spPr>
          <a:xfrm>
            <a:off x="6286500" y="2624603"/>
            <a:ext cx="2057400"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Support Gaps</a:t>
            </a:r>
            <a:endParaRPr lang="en-US" sz="1397" dirty="0"/>
          </a:p>
        </p:txBody>
      </p:sp>
      <p:sp>
        <p:nvSpPr>
          <p:cNvPr id="20" name="Text 13"/>
          <p:cNvSpPr/>
          <p:nvPr/>
        </p:nvSpPr>
        <p:spPr>
          <a:xfrm>
            <a:off x="6286500" y="3010365"/>
            <a:ext cx="2057400" cy="1028588"/>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A significant disconnect exists between high-level company policies and actual employee awareness of available resources.</a:t>
            </a:r>
            <a:endParaRPr lang="en-US" sz="942" dirty="0"/>
          </a:p>
        </p:txBody>
      </p:sp>
      <p:sp>
        <p:nvSpPr>
          <p:cNvPr id="21" name="Shape 14"/>
          <p:cNvSpPr/>
          <p:nvPr/>
        </p:nvSpPr>
        <p:spPr>
          <a:xfrm>
            <a:off x="0" y="4739153"/>
            <a:ext cx="9144000" cy="408980"/>
          </a:xfrm>
          <a:prstGeom prst="rect">
            <a:avLst/>
          </a:prstGeom>
          <a:solidFill>
            <a:srgbClr val="000000">
              <a:alpha val="0"/>
            </a:srgbClr>
          </a:solidFill>
          <a:ln/>
        </p:spPr>
        <p:txBody>
          <a:bodyPr/>
          <a:lstStyle/>
          <a:p>
            <a:endParaRPr lang="en-US"/>
          </a:p>
        </p:txBody>
      </p:sp>
      <p:sp>
        <p:nvSpPr>
          <p:cNvPr id="22" name="Shape 15"/>
          <p:cNvSpPr/>
          <p:nvPr/>
        </p:nvSpPr>
        <p:spPr>
          <a:xfrm>
            <a:off x="0" y="4739153"/>
            <a:ext cx="9144000" cy="7144"/>
          </a:xfrm>
          <a:prstGeom prst="rect">
            <a:avLst/>
          </a:prstGeom>
          <a:solidFill>
            <a:srgbClr val="FFFFFF"/>
          </a:solidFill>
          <a:ln/>
        </p:spPr>
        <p:txBody>
          <a:bodyPr/>
          <a:lstStyle/>
          <a:p>
            <a:endParaRPr lang="en-US"/>
          </a:p>
        </p:txBody>
      </p:sp>
      <p:sp>
        <p:nvSpPr>
          <p:cNvPr id="23" name="Text 16"/>
          <p:cNvSpPr/>
          <p:nvPr/>
        </p:nvSpPr>
        <p:spPr>
          <a:xfrm>
            <a:off x="571500" y="4967753"/>
            <a:ext cx="8001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Proactive health strategies are essential to prevent burnout and long-term turnover.</a:t>
            </a:r>
            <a:endParaRPr lang="en-US" sz="9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407093"/>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DEFINING OUR SCOPE</a:t>
            </a:r>
            <a:endParaRPr lang="en-US" sz="1193" dirty="0"/>
          </a:p>
        </p:txBody>
      </p:sp>
      <p:sp>
        <p:nvSpPr>
          <p:cNvPr id="5" name="Text 1"/>
          <p:cNvSpPr/>
          <p:nvPr/>
        </p:nvSpPr>
        <p:spPr>
          <a:xfrm>
            <a:off x="571500" y="7500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Primary Research Questions</a:t>
            </a:r>
            <a:endParaRPr lang="en-US" sz="3294" dirty="0"/>
          </a:p>
        </p:txBody>
      </p:sp>
      <p:sp>
        <p:nvSpPr>
          <p:cNvPr id="6" name="Text 2"/>
          <p:cNvSpPr/>
          <p:nvPr/>
        </p:nvSpPr>
        <p:spPr>
          <a:xfrm>
            <a:off x="571500" y="1831646"/>
            <a:ext cx="571500"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3B82F6">
                    <a:alpha val="20000"/>
                  </a:srgbClr>
                </a:solidFill>
                <a:latin typeface="Inter" pitchFamily="34" charset="0"/>
                <a:ea typeface="Inter" pitchFamily="34" charset="-122"/>
                <a:cs typeface="Inter" pitchFamily="34" charset="-120"/>
              </a:rPr>
              <a:t>01</a:t>
            </a:r>
            <a:endParaRPr lang="en-US" sz="3294" dirty="0"/>
          </a:p>
        </p:txBody>
      </p:sp>
      <p:sp>
        <p:nvSpPr>
          <p:cNvPr id="7" name="Text 3"/>
          <p:cNvSpPr/>
          <p:nvPr/>
        </p:nvSpPr>
        <p:spPr>
          <a:xfrm>
            <a:off x="1428750" y="1831646"/>
            <a:ext cx="7143750"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Demographic Trends</a:t>
            </a:r>
            <a:endParaRPr lang="en-US" sz="1602" dirty="0"/>
          </a:p>
        </p:txBody>
      </p:sp>
      <p:sp>
        <p:nvSpPr>
          <p:cNvPr id="8" name="Text 4"/>
          <p:cNvSpPr/>
          <p:nvPr/>
        </p:nvSpPr>
        <p:spPr>
          <a:xfrm>
            <a:off x="1428750" y="2165617"/>
            <a:ext cx="7143750"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B0B3B8"/>
                </a:solidFill>
                <a:latin typeface="Inter" pitchFamily="34" charset="0"/>
                <a:ea typeface="Inter" pitchFamily="34" charset="-122"/>
                <a:cs typeface="Inter" pitchFamily="34" charset="-120"/>
              </a:rPr>
              <a:t>How do age and gender correlate with the likelihood of seeking mental health treatment in the tech sector?</a:t>
            </a:r>
            <a:endParaRPr lang="en-US" sz="1050" dirty="0"/>
          </a:p>
        </p:txBody>
      </p:sp>
      <p:sp>
        <p:nvSpPr>
          <p:cNvPr id="9" name="Text 5"/>
          <p:cNvSpPr/>
          <p:nvPr/>
        </p:nvSpPr>
        <p:spPr>
          <a:xfrm>
            <a:off x="571500" y="3001435"/>
            <a:ext cx="607219"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3B82F6">
                    <a:alpha val="20000"/>
                  </a:srgbClr>
                </a:solidFill>
                <a:latin typeface="Inter" pitchFamily="34" charset="0"/>
                <a:ea typeface="Inter" pitchFamily="34" charset="-122"/>
                <a:cs typeface="Inter" pitchFamily="34" charset="-120"/>
              </a:rPr>
              <a:t>02</a:t>
            </a:r>
            <a:endParaRPr lang="en-US" sz="3294" dirty="0"/>
          </a:p>
        </p:txBody>
      </p:sp>
      <p:sp>
        <p:nvSpPr>
          <p:cNvPr id="10" name="Text 6"/>
          <p:cNvSpPr/>
          <p:nvPr/>
        </p:nvSpPr>
        <p:spPr>
          <a:xfrm>
            <a:off x="1464469" y="3001435"/>
            <a:ext cx="7108031"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Work Environment</a:t>
            </a:r>
            <a:endParaRPr lang="en-US" sz="1602" dirty="0"/>
          </a:p>
        </p:txBody>
      </p:sp>
      <p:sp>
        <p:nvSpPr>
          <p:cNvPr id="11" name="Text 7"/>
          <p:cNvSpPr/>
          <p:nvPr/>
        </p:nvSpPr>
        <p:spPr>
          <a:xfrm>
            <a:off x="1464469" y="3335406"/>
            <a:ext cx="7108031" cy="214313"/>
          </a:xfrm>
          <a:prstGeom prst="rect">
            <a:avLst/>
          </a:prstGeom>
          <a:noFill/>
          <a:ln/>
        </p:spPr>
        <p:txBody>
          <a:bodyPr wrap="none" lIns="0" tIns="0" rIns="0" bIns="0" rtlCol="0" anchor="t">
            <a:spAutoFit/>
          </a:bodyPr>
          <a:lstStyle/>
          <a:p>
            <a:pPr marL="0" indent="0" algn="l">
              <a:lnSpc>
                <a:spcPts val="1700"/>
              </a:lnSpc>
              <a:buNone/>
            </a:pPr>
            <a:r>
              <a:rPr lang="en-US" sz="1050" dirty="0">
                <a:solidFill>
                  <a:srgbClr val="B0B3B8"/>
                </a:solidFill>
                <a:latin typeface="Inter" pitchFamily="34" charset="0"/>
                <a:ea typeface="Inter" pitchFamily="34" charset="-122"/>
                <a:cs typeface="Inter" pitchFamily="34" charset="-120"/>
              </a:rPr>
              <a:t>Does company size or remote work status significantly impact the availability and awareness of support?</a:t>
            </a:r>
            <a:endParaRPr lang="en-US" sz="1050" dirty="0"/>
          </a:p>
        </p:txBody>
      </p:sp>
      <p:sp>
        <p:nvSpPr>
          <p:cNvPr id="12" name="Text 8"/>
          <p:cNvSpPr/>
          <p:nvPr/>
        </p:nvSpPr>
        <p:spPr>
          <a:xfrm>
            <a:off x="571500" y="3956912"/>
            <a:ext cx="616148"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3B82F6">
                    <a:alpha val="20000"/>
                  </a:srgbClr>
                </a:solidFill>
                <a:latin typeface="Inter" pitchFamily="34" charset="0"/>
                <a:ea typeface="Inter" pitchFamily="34" charset="-122"/>
                <a:cs typeface="Inter" pitchFamily="34" charset="-120"/>
              </a:rPr>
              <a:t>03</a:t>
            </a:r>
            <a:endParaRPr lang="en-US" sz="3294" dirty="0"/>
          </a:p>
        </p:txBody>
      </p:sp>
      <p:sp>
        <p:nvSpPr>
          <p:cNvPr id="13" name="Text 9"/>
          <p:cNvSpPr/>
          <p:nvPr/>
        </p:nvSpPr>
        <p:spPr>
          <a:xfrm>
            <a:off x="1473398" y="3956912"/>
            <a:ext cx="7099102"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FFFF"/>
                </a:solidFill>
                <a:latin typeface="Inter" pitchFamily="34" charset="0"/>
                <a:ea typeface="Inter" pitchFamily="34" charset="-122"/>
                <a:cs typeface="Inter" pitchFamily="34" charset="-120"/>
              </a:rPr>
              <a:t>Interference &amp; Action</a:t>
            </a:r>
            <a:endParaRPr lang="en-US" sz="1602" dirty="0"/>
          </a:p>
        </p:txBody>
      </p:sp>
      <p:sp>
        <p:nvSpPr>
          <p:cNvPr id="14" name="Text 10"/>
          <p:cNvSpPr/>
          <p:nvPr/>
        </p:nvSpPr>
        <p:spPr>
          <a:xfrm>
            <a:off x="1473398" y="4290882"/>
            <a:ext cx="7099102"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B0B3B8"/>
                </a:solidFill>
                <a:latin typeface="Inter" pitchFamily="34" charset="0"/>
                <a:ea typeface="Inter" pitchFamily="34" charset="-122"/>
                <a:cs typeface="Inter" pitchFamily="34" charset="-120"/>
              </a:rPr>
              <a:t>How strongly does perceived work interference predict the transition from "needing help" to "seeking treatment"?</a:t>
            </a:r>
            <a:endParaRPr lang="en-US" sz="1050" dirty="0"/>
          </a:p>
        </p:txBody>
      </p:sp>
      <p:sp>
        <p:nvSpPr>
          <p:cNvPr id="15" name="Text 11"/>
          <p:cNvSpPr/>
          <p:nvPr/>
        </p:nvSpPr>
        <p:spPr>
          <a:xfrm>
            <a:off x="571500" y="5233857"/>
            <a:ext cx="8001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3B82F6"/>
                </a:solidFill>
                <a:latin typeface="Inter" pitchFamily="34" charset="0"/>
                <a:ea typeface="Inter" pitchFamily="34" charset="-122"/>
                <a:cs typeface="Inter" pitchFamily="34" charset="-120"/>
              </a:rPr>
              <a:t>Understanding these intersections is key to effective organizational intervention.</a:t>
            </a:r>
            <a:endParaRPr lang="en-US" sz="98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DATA FOUNDATION</a:t>
            </a:r>
            <a:endParaRPr lang="en-US" sz="1193" dirty="0"/>
          </a:p>
        </p:txBody>
      </p:sp>
      <p:sp>
        <p:nvSpPr>
          <p:cNvPr id="5" name="Text 1"/>
          <p:cNvSpPr/>
          <p:nvPr/>
        </p:nvSpPr>
        <p:spPr>
          <a:xfrm>
            <a:off x="571500" y="7500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The OSMI 2014 Survey</a:t>
            </a:r>
            <a:endParaRPr lang="en-US" sz="3294" dirty="0"/>
          </a:p>
        </p:txBody>
      </p:sp>
      <p:sp>
        <p:nvSpPr>
          <p:cNvPr id="6" name="Text 2"/>
          <p:cNvSpPr/>
          <p:nvPr/>
        </p:nvSpPr>
        <p:spPr>
          <a:xfrm>
            <a:off x="571500" y="1367303"/>
            <a:ext cx="3371850" cy="155377"/>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3B82F6"/>
                </a:solidFill>
                <a:latin typeface="Inter" pitchFamily="34" charset="0"/>
                <a:ea typeface="Inter" pitchFamily="34" charset="-122"/>
                <a:cs typeface="Inter" pitchFamily="34" charset="-120"/>
              </a:rPr>
              <a:t>DATASET HIGHLIGHTS</a:t>
            </a:r>
            <a:endParaRPr lang="en-US" sz="885" dirty="0"/>
          </a:p>
        </p:txBody>
      </p:sp>
      <p:pic>
        <p:nvPicPr>
          <p:cNvPr id="7" name="Image 1" descr="preencoded.png"/>
          <p:cNvPicPr>
            <a:picLocks noChangeAspect="1"/>
          </p:cNvPicPr>
          <p:nvPr/>
        </p:nvPicPr>
        <p:blipFill>
          <a:blip r:embed="rId4"/>
          <a:stretch>
            <a:fillRect/>
          </a:stretch>
        </p:blipFill>
        <p:spPr>
          <a:xfrm>
            <a:off x="571500" y="1645016"/>
            <a:ext cx="100013" cy="100013"/>
          </a:xfrm>
          <a:prstGeom prst="rect">
            <a:avLst/>
          </a:prstGeom>
        </p:spPr>
      </p:pic>
      <p:sp>
        <p:nvSpPr>
          <p:cNvPr id="8" name="Text 3"/>
          <p:cNvSpPr/>
          <p:nvPr/>
        </p:nvSpPr>
        <p:spPr>
          <a:xfrm>
            <a:off x="757238" y="1608404"/>
            <a:ext cx="2252067"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1,200+ Global Tech Professionals</a:t>
            </a:r>
            <a:endParaRPr lang="en-US" sz="1050" dirty="0"/>
          </a:p>
        </p:txBody>
      </p:sp>
      <p:pic>
        <p:nvPicPr>
          <p:cNvPr id="9" name="Image 2" descr="preencoded.png"/>
          <p:cNvPicPr>
            <a:picLocks noChangeAspect="1"/>
          </p:cNvPicPr>
          <p:nvPr/>
        </p:nvPicPr>
        <p:blipFill>
          <a:blip r:embed="rId5"/>
          <a:stretch>
            <a:fillRect/>
          </a:stretch>
        </p:blipFill>
        <p:spPr>
          <a:xfrm>
            <a:off x="571500" y="1875402"/>
            <a:ext cx="100013" cy="100013"/>
          </a:xfrm>
          <a:prstGeom prst="rect">
            <a:avLst/>
          </a:prstGeom>
        </p:spPr>
      </p:pic>
      <p:sp>
        <p:nvSpPr>
          <p:cNvPr id="10" name="Text 4"/>
          <p:cNvSpPr/>
          <p:nvPr/>
        </p:nvSpPr>
        <p:spPr>
          <a:xfrm>
            <a:off x="757238" y="1838790"/>
            <a:ext cx="1910953"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20+ Mental Health Variables</a:t>
            </a:r>
            <a:endParaRPr lang="en-US" sz="1050" dirty="0"/>
          </a:p>
        </p:txBody>
      </p:sp>
      <p:pic>
        <p:nvPicPr>
          <p:cNvPr id="11" name="Image 3" descr="preencoded.png"/>
          <p:cNvPicPr>
            <a:picLocks noChangeAspect="1"/>
          </p:cNvPicPr>
          <p:nvPr/>
        </p:nvPicPr>
        <p:blipFill>
          <a:blip r:embed="rId6"/>
          <a:stretch>
            <a:fillRect/>
          </a:stretch>
        </p:blipFill>
        <p:spPr>
          <a:xfrm>
            <a:off x="571500" y="2105788"/>
            <a:ext cx="100013" cy="100013"/>
          </a:xfrm>
          <a:prstGeom prst="rect">
            <a:avLst/>
          </a:prstGeom>
        </p:spPr>
      </p:pic>
      <p:sp>
        <p:nvSpPr>
          <p:cNvPr id="12" name="Text 5"/>
          <p:cNvSpPr/>
          <p:nvPr/>
        </p:nvSpPr>
        <p:spPr>
          <a:xfrm>
            <a:off x="757238" y="2069176"/>
            <a:ext cx="2146697"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Industry-Standard OSMI Source</a:t>
            </a:r>
            <a:endParaRPr lang="en-US" sz="1050" dirty="0"/>
          </a:p>
        </p:txBody>
      </p:sp>
      <p:sp>
        <p:nvSpPr>
          <p:cNvPr id="13" name="Text 6"/>
          <p:cNvSpPr/>
          <p:nvPr/>
        </p:nvSpPr>
        <p:spPr>
          <a:xfrm>
            <a:off x="571500" y="2328137"/>
            <a:ext cx="3371850" cy="155377"/>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3B82F6"/>
                </a:solidFill>
                <a:latin typeface="Inter" pitchFamily="34" charset="0"/>
                <a:ea typeface="Inter" pitchFamily="34" charset="-122"/>
                <a:cs typeface="Inter" pitchFamily="34" charset="-120"/>
              </a:rPr>
              <a:t>KEY VARIABLES</a:t>
            </a:r>
            <a:endParaRPr lang="en-US" sz="885" dirty="0"/>
          </a:p>
        </p:txBody>
      </p:sp>
      <p:pic>
        <p:nvPicPr>
          <p:cNvPr id="14" name="Image 4" descr="preencoded.png"/>
          <p:cNvPicPr>
            <a:picLocks noChangeAspect="1"/>
          </p:cNvPicPr>
          <p:nvPr/>
        </p:nvPicPr>
        <p:blipFill>
          <a:blip r:embed="rId7"/>
          <a:stretch>
            <a:fillRect/>
          </a:stretch>
        </p:blipFill>
        <p:spPr>
          <a:xfrm>
            <a:off x="571500" y="2605850"/>
            <a:ext cx="87511" cy="100013"/>
          </a:xfrm>
          <a:prstGeom prst="rect">
            <a:avLst/>
          </a:prstGeom>
        </p:spPr>
      </p:pic>
      <p:sp>
        <p:nvSpPr>
          <p:cNvPr id="15" name="Text 7"/>
          <p:cNvSpPr/>
          <p:nvPr/>
        </p:nvSpPr>
        <p:spPr>
          <a:xfrm>
            <a:off x="744736" y="2569239"/>
            <a:ext cx="1639491"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Age, Gender, &amp; Location</a:t>
            </a:r>
            <a:endParaRPr lang="en-US" sz="1050" dirty="0"/>
          </a:p>
        </p:txBody>
      </p:sp>
      <p:pic>
        <p:nvPicPr>
          <p:cNvPr id="16" name="Image 5" descr="preencoded.png"/>
          <p:cNvPicPr>
            <a:picLocks noChangeAspect="1"/>
          </p:cNvPicPr>
          <p:nvPr/>
        </p:nvPicPr>
        <p:blipFill>
          <a:blip r:embed="rId8"/>
          <a:stretch>
            <a:fillRect/>
          </a:stretch>
        </p:blipFill>
        <p:spPr>
          <a:xfrm>
            <a:off x="571500" y="2836236"/>
            <a:ext cx="87511" cy="100013"/>
          </a:xfrm>
          <a:prstGeom prst="rect">
            <a:avLst/>
          </a:prstGeom>
        </p:spPr>
      </p:pic>
      <p:sp>
        <p:nvSpPr>
          <p:cNvPr id="17" name="Text 8"/>
          <p:cNvSpPr/>
          <p:nvPr/>
        </p:nvSpPr>
        <p:spPr>
          <a:xfrm>
            <a:off x="744736" y="2799624"/>
            <a:ext cx="2125266"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Company Size &amp; Remote Status</a:t>
            </a:r>
            <a:endParaRPr lang="en-US" sz="1050" dirty="0"/>
          </a:p>
        </p:txBody>
      </p:sp>
      <p:pic>
        <p:nvPicPr>
          <p:cNvPr id="18" name="Image 6" descr="preencoded.png"/>
          <p:cNvPicPr>
            <a:picLocks noChangeAspect="1"/>
          </p:cNvPicPr>
          <p:nvPr/>
        </p:nvPicPr>
        <p:blipFill>
          <a:blip r:embed="rId9"/>
          <a:stretch>
            <a:fillRect/>
          </a:stretch>
        </p:blipFill>
        <p:spPr>
          <a:xfrm>
            <a:off x="571500" y="3066622"/>
            <a:ext cx="87511" cy="100013"/>
          </a:xfrm>
          <a:prstGeom prst="rect">
            <a:avLst/>
          </a:prstGeom>
        </p:spPr>
      </p:pic>
      <p:sp>
        <p:nvSpPr>
          <p:cNvPr id="19" name="Text 9"/>
          <p:cNvSpPr/>
          <p:nvPr/>
        </p:nvSpPr>
        <p:spPr>
          <a:xfrm>
            <a:off x="744736" y="3030010"/>
            <a:ext cx="1946672" cy="17323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B0B3B8"/>
                </a:solidFill>
                <a:latin typeface="Inter" pitchFamily="34" charset="0"/>
                <a:ea typeface="Inter" pitchFamily="34" charset="-122"/>
                <a:cs typeface="Inter" pitchFamily="34" charset="-120"/>
              </a:rPr>
              <a:t>Benefits &amp; Work Interference</a:t>
            </a:r>
            <a:endParaRPr lang="en-US" sz="1050" dirty="0"/>
          </a:p>
        </p:txBody>
      </p:sp>
      <p:sp>
        <p:nvSpPr>
          <p:cNvPr id="20" name="Text 10"/>
          <p:cNvSpPr/>
          <p:nvPr/>
        </p:nvSpPr>
        <p:spPr>
          <a:xfrm>
            <a:off x="571500" y="3288971"/>
            <a:ext cx="3371850" cy="155377"/>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3B82F6"/>
                </a:solidFill>
                <a:latin typeface="Inter" pitchFamily="34" charset="0"/>
                <a:ea typeface="Inter" pitchFamily="34" charset="-122"/>
                <a:cs typeface="Inter" pitchFamily="34" charset="-120"/>
              </a:rPr>
              <a:t>DATA INTEGRITY</a:t>
            </a:r>
            <a:endParaRPr lang="en-US" sz="885" dirty="0"/>
          </a:p>
        </p:txBody>
      </p:sp>
      <p:sp>
        <p:nvSpPr>
          <p:cNvPr id="21" name="Text 11"/>
          <p:cNvSpPr/>
          <p:nvPr/>
        </p:nvSpPr>
        <p:spPr>
          <a:xfrm>
            <a:off x="571500" y="3530073"/>
            <a:ext cx="3371850"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B0B3B8"/>
                </a:solidFill>
                <a:latin typeface="Inter" pitchFamily="34" charset="0"/>
                <a:ea typeface="Inter" pitchFamily="34" charset="-122"/>
                <a:cs typeface="Inter" pitchFamily="34" charset="-120"/>
              </a:rPr>
              <a:t>Rigorous cleaning and missing-value handling ensure a reliable foundation for analysis.</a:t>
            </a:r>
            <a:endParaRPr lang="en-US" sz="942" dirty="0"/>
          </a:p>
        </p:txBody>
      </p:sp>
      <p:sp>
        <p:nvSpPr>
          <p:cNvPr id="22" name="Shape 12"/>
          <p:cNvSpPr/>
          <p:nvPr/>
        </p:nvSpPr>
        <p:spPr>
          <a:xfrm>
            <a:off x="4286250" y="1367303"/>
            <a:ext cx="4286250" cy="2428875"/>
          </a:xfrm>
          <a:prstGeom prst="rect">
            <a:avLst/>
          </a:prstGeom>
          <a:solidFill>
            <a:srgbClr val="FFFFFF">
              <a:alpha val="3000"/>
            </a:srgbClr>
          </a:solidFill>
          <a:ln w="9144">
            <a:solidFill>
              <a:srgbClr val="FFFFFF">
                <a:alpha val="10000"/>
              </a:srgbClr>
            </a:solidFill>
            <a:prstDash val="solid"/>
          </a:ln>
        </p:spPr>
        <p:txBody>
          <a:bodyPr/>
          <a:lstStyle/>
          <a:p>
            <a:endParaRPr lang="en-US"/>
          </a:p>
        </p:txBody>
      </p:sp>
      <p:sp>
        <p:nvSpPr>
          <p:cNvPr id="24" name="Shape 13"/>
          <p:cNvSpPr/>
          <p:nvPr/>
        </p:nvSpPr>
        <p:spPr>
          <a:xfrm>
            <a:off x="0" y="4648795"/>
            <a:ext cx="9144000" cy="494705"/>
          </a:xfrm>
          <a:prstGeom prst="rect">
            <a:avLst/>
          </a:prstGeom>
          <a:solidFill>
            <a:srgbClr val="000000">
              <a:alpha val="0"/>
            </a:srgbClr>
          </a:solidFill>
          <a:ln/>
        </p:spPr>
        <p:txBody>
          <a:bodyPr/>
          <a:lstStyle/>
          <a:p>
            <a:endParaRPr lang="en-US"/>
          </a:p>
        </p:txBody>
      </p:sp>
      <p:sp>
        <p:nvSpPr>
          <p:cNvPr id="25" name="Shape 14"/>
          <p:cNvSpPr/>
          <p:nvPr/>
        </p:nvSpPr>
        <p:spPr>
          <a:xfrm>
            <a:off x="0" y="4648795"/>
            <a:ext cx="9144000" cy="7144"/>
          </a:xfrm>
          <a:prstGeom prst="rect">
            <a:avLst/>
          </a:prstGeom>
          <a:solidFill>
            <a:srgbClr val="FFFFFF"/>
          </a:solidFill>
          <a:ln/>
        </p:spPr>
        <p:txBody>
          <a:bodyPr/>
          <a:lstStyle/>
          <a:p>
            <a:endParaRPr lang="en-US"/>
          </a:p>
        </p:txBody>
      </p:sp>
      <p:sp>
        <p:nvSpPr>
          <p:cNvPr id="26" name="Text 15"/>
          <p:cNvSpPr/>
          <p:nvPr/>
        </p:nvSpPr>
        <p:spPr>
          <a:xfrm>
            <a:off x="571500" y="4798814"/>
            <a:ext cx="8001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A statistically significant dataset providing a deep look at industry health.</a:t>
            </a:r>
            <a:endParaRPr lang="en-US" sz="987" dirty="0"/>
          </a:p>
        </p:txBody>
      </p:sp>
      <p:pic>
        <p:nvPicPr>
          <p:cNvPr id="27" name="Picture 26">
            <a:extLst>
              <a:ext uri="{FF2B5EF4-FFF2-40B4-BE49-F238E27FC236}">
                <a16:creationId xmlns:a16="http://schemas.microsoft.com/office/drawing/2014/main" id="{DB59FAA7-315A-1FEC-1FA4-E46E26C6E227}"/>
              </a:ext>
            </a:extLst>
          </p:cNvPr>
          <p:cNvPicPr>
            <a:picLocks noChangeAspect="1"/>
          </p:cNvPicPr>
          <p:nvPr/>
        </p:nvPicPr>
        <p:blipFill>
          <a:blip r:embed="rId10"/>
          <a:stretch>
            <a:fillRect/>
          </a:stretch>
        </p:blipFill>
        <p:spPr>
          <a:xfrm>
            <a:off x="4286251" y="1444991"/>
            <a:ext cx="4286250" cy="22378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77948"/>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SYSTEM ARCHITECTURE</a:t>
            </a:r>
            <a:endParaRPr lang="en-US" sz="1193" dirty="0"/>
          </a:p>
        </p:txBody>
      </p:sp>
      <p:sp>
        <p:nvSpPr>
          <p:cNvPr id="5" name="Text 1"/>
          <p:cNvSpPr/>
          <p:nvPr/>
        </p:nvSpPr>
        <p:spPr>
          <a:xfrm>
            <a:off x="571500" y="7500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Interactive Dashboard Design</a:t>
            </a:r>
            <a:endParaRPr lang="en-US" sz="3294" dirty="0"/>
          </a:p>
        </p:txBody>
      </p:sp>
      <p:pic>
        <p:nvPicPr>
          <p:cNvPr id="6" name="Image 1" descr="preencoded.png"/>
          <p:cNvPicPr>
            <a:picLocks noChangeAspect="1"/>
          </p:cNvPicPr>
          <p:nvPr/>
        </p:nvPicPr>
        <p:blipFill>
          <a:blip r:embed="rId4"/>
          <a:stretch>
            <a:fillRect/>
          </a:stretch>
        </p:blipFill>
        <p:spPr>
          <a:xfrm>
            <a:off x="571500" y="1724490"/>
            <a:ext cx="171450" cy="171450"/>
          </a:xfrm>
          <a:prstGeom prst="rect">
            <a:avLst/>
          </a:prstGeom>
        </p:spPr>
      </p:pic>
      <p:sp>
        <p:nvSpPr>
          <p:cNvPr id="7" name="Text 2"/>
          <p:cNvSpPr/>
          <p:nvPr/>
        </p:nvSpPr>
        <p:spPr>
          <a:xfrm>
            <a:off x="857250" y="1688771"/>
            <a:ext cx="1293019"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Input Control</a:t>
            </a:r>
            <a:endParaRPr lang="en-US" sz="1397" dirty="0"/>
          </a:p>
        </p:txBody>
      </p:sp>
      <p:sp>
        <p:nvSpPr>
          <p:cNvPr id="8" name="Text 3"/>
          <p:cNvSpPr/>
          <p:nvPr/>
        </p:nvSpPr>
        <p:spPr>
          <a:xfrm>
            <a:off x="571500" y="1988809"/>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Multi-dimensional sidebar filters for Region, Gender, and Age.</a:t>
            </a:r>
            <a:endParaRPr lang="en-US" sz="942" dirty="0"/>
          </a:p>
        </p:txBody>
      </p:sp>
      <p:sp>
        <p:nvSpPr>
          <p:cNvPr id="9" name="Text 4"/>
          <p:cNvSpPr/>
          <p:nvPr/>
        </p:nvSpPr>
        <p:spPr>
          <a:xfrm>
            <a:off x="571500" y="2443107"/>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Organizational segmentation by Company Size and Remote Work status.</a:t>
            </a:r>
            <a:endParaRPr lang="en-US" sz="942" dirty="0"/>
          </a:p>
        </p:txBody>
      </p:sp>
      <p:sp>
        <p:nvSpPr>
          <p:cNvPr id="10" name="Text 5"/>
          <p:cNvSpPr/>
          <p:nvPr/>
        </p:nvSpPr>
        <p:spPr>
          <a:xfrm>
            <a:off x="571500" y="2897405"/>
            <a:ext cx="3886200"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Temporal analysis through Year-based data selection.</a:t>
            </a:r>
            <a:endParaRPr lang="en-US" sz="942" dirty="0"/>
          </a:p>
        </p:txBody>
      </p:sp>
      <p:pic>
        <p:nvPicPr>
          <p:cNvPr id="11" name="Image 2" descr="preencoded.png"/>
          <p:cNvPicPr>
            <a:picLocks noChangeAspect="1"/>
          </p:cNvPicPr>
          <p:nvPr/>
        </p:nvPicPr>
        <p:blipFill>
          <a:blip r:embed="rId5"/>
          <a:stretch>
            <a:fillRect/>
          </a:stretch>
        </p:blipFill>
        <p:spPr>
          <a:xfrm>
            <a:off x="571500" y="3446022"/>
            <a:ext cx="192881" cy="171450"/>
          </a:xfrm>
          <a:prstGeom prst="rect">
            <a:avLst/>
          </a:prstGeom>
        </p:spPr>
      </p:pic>
      <p:sp>
        <p:nvSpPr>
          <p:cNvPr id="12" name="Text 6"/>
          <p:cNvSpPr/>
          <p:nvPr/>
        </p:nvSpPr>
        <p:spPr>
          <a:xfrm>
            <a:off x="878681" y="3410303"/>
            <a:ext cx="1275159"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Core Metrics</a:t>
            </a:r>
            <a:endParaRPr lang="en-US" sz="1397" dirty="0"/>
          </a:p>
        </p:txBody>
      </p:sp>
      <p:sp>
        <p:nvSpPr>
          <p:cNvPr id="13" name="Text 7"/>
          <p:cNvSpPr/>
          <p:nvPr/>
        </p:nvSpPr>
        <p:spPr>
          <a:xfrm>
            <a:off x="571500" y="3710341"/>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High-level KPI indicators for Sample Size (N) and Treatment Rates.</a:t>
            </a:r>
            <a:endParaRPr lang="en-US" sz="942" dirty="0"/>
          </a:p>
        </p:txBody>
      </p:sp>
      <p:sp>
        <p:nvSpPr>
          <p:cNvPr id="14" name="Text 8"/>
          <p:cNvSpPr/>
          <p:nvPr/>
        </p:nvSpPr>
        <p:spPr>
          <a:xfrm>
            <a:off x="571500" y="4164639"/>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Real-time tracking of Benefits Awareness and Family History.</a:t>
            </a:r>
            <a:endParaRPr lang="en-US" sz="942" dirty="0"/>
          </a:p>
        </p:txBody>
      </p:sp>
      <p:pic>
        <p:nvPicPr>
          <p:cNvPr id="15" name="Image 3" descr="preencoded.png"/>
          <p:cNvPicPr>
            <a:picLocks noChangeAspect="1"/>
          </p:cNvPicPr>
          <p:nvPr/>
        </p:nvPicPr>
        <p:blipFill>
          <a:blip r:embed="rId6"/>
          <a:stretch>
            <a:fillRect/>
          </a:stretch>
        </p:blipFill>
        <p:spPr>
          <a:xfrm>
            <a:off x="4686300" y="1724490"/>
            <a:ext cx="171450" cy="171450"/>
          </a:xfrm>
          <a:prstGeom prst="rect">
            <a:avLst/>
          </a:prstGeom>
        </p:spPr>
      </p:pic>
      <p:sp>
        <p:nvSpPr>
          <p:cNvPr id="16" name="Text 9"/>
          <p:cNvSpPr/>
          <p:nvPr/>
        </p:nvSpPr>
        <p:spPr>
          <a:xfrm>
            <a:off x="4972050" y="1688771"/>
            <a:ext cx="2221706"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Dynamic Visualization</a:t>
            </a:r>
            <a:endParaRPr lang="en-US" sz="1397" dirty="0"/>
          </a:p>
        </p:txBody>
      </p:sp>
      <p:sp>
        <p:nvSpPr>
          <p:cNvPr id="17" name="Text 10"/>
          <p:cNvSpPr/>
          <p:nvPr/>
        </p:nvSpPr>
        <p:spPr>
          <a:xfrm>
            <a:off x="4686300" y="1988809"/>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Cross-filtering logic: all charts update instantly upon filter selection.</a:t>
            </a:r>
            <a:endParaRPr lang="en-US" sz="942" dirty="0"/>
          </a:p>
        </p:txBody>
      </p:sp>
      <p:sp>
        <p:nvSpPr>
          <p:cNvPr id="18" name="Text 11"/>
          <p:cNvSpPr/>
          <p:nvPr/>
        </p:nvSpPr>
        <p:spPr>
          <a:xfrm>
            <a:off x="4686300" y="2443107"/>
            <a:ext cx="38862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Linked views between demographics and workplace support factors.</a:t>
            </a:r>
            <a:endParaRPr lang="en-US" sz="942" dirty="0"/>
          </a:p>
        </p:txBody>
      </p:sp>
      <p:sp>
        <p:nvSpPr>
          <p:cNvPr id="19" name="Text 12"/>
          <p:cNvSpPr/>
          <p:nvPr/>
        </p:nvSpPr>
        <p:spPr>
          <a:xfrm>
            <a:off x="4686300" y="2897405"/>
            <a:ext cx="3886200"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Contextual legends and definitions for data transparency.</a:t>
            </a:r>
            <a:endParaRPr lang="en-US" sz="942" dirty="0"/>
          </a:p>
        </p:txBody>
      </p:sp>
      <p:sp>
        <p:nvSpPr>
          <p:cNvPr id="20" name="Shape 13"/>
          <p:cNvSpPr/>
          <p:nvPr/>
        </p:nvSpPr>
        <p:spPr>
          <a:xfrm>
            <a:off x="571500" y="4790387"/>
            <a:ext cx="5961459" cy="258961"/>
          </a:xfrm>
          <a:prstGeom prst="rect">
            <a:avLst/>
          </a:prstGeom>
          <a:solidFill>
            <a:srgbClr val="3B82F6">
              <a:alpha val="10000"/>
            </a:srgbClr>
          </a:solidFill>
          <a:ln/>
        </p:spPr>
        <p:txBody>
          <a:bodyPr/>
          <a:lstStyle/>
          <a:p>
            <a:endParaRPr lang="en-US"/>
          </a:p>
        </p:txBody>
      </p:sp>
      <p:sp>
        <p:nvSpPr>
          <p:cNvPr id="21" name="Shape 14"/>
          <p:cNvSpPr/>
          <p:nvPr/>
        </p:nvSpPr>
        <p:spPr>
          <a:xfrm>
            <a:off x="571500" y="4790387"/>
            <a:ext cx="28575" cy="258961"/>
          </a:xfrm>
          <a:prstGeom prst="rect">
            <a:avLst/>
          </a:prstGeom>
          <a:solidFill>
            <a:srgbClr val="3B82F6"/>
          </a:solidFill>
          <a:ln/>
        </p:spPr>
        <p:txBody>
          <a:bodyPr/>
          <a:lstStyle/>
          <a:p>
            <a:endParaRPr lang="en-US"/>
          </a:p>
        </p:txBody>
      </p:sp>
      <p:sp>
        <p:nvSpPr>
          <p:cNvPr id="22" name="Text 15"/>
          <p:cNvSpPr/>
          <p:nvPr/>
        </p:nvSpPr>
        <p:spPr>
          <a:xfrm>
            <a:off x="571500" y="4790387"/>
            <a:ext cx="5961459" cy="258961"/>
          </a:xfrm>
          <a:prstGeom prst="rect">
            <a:avLst/>
          </a:prstGeom>
          <a:noFill/>
          <a:ln/>
        </p:spPr>
        <p:txBody>
          <a:bodyPr wrap="square" lIns="204089" tIns="102108" rIns="204089"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Intuitive design enables multi-dimensional exploration through real-time filtering.</a:t>
            </a:r>
            <a:endParaRPr lang="en-US" sz="98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DATA INSIGHTS</a:t>
            </a:r>
            <a:endParaRPr lang="en-US" sz="1193" dirty="0"/>
          </a:p>
        </p:txBody>
      </p:sp>
      <p:sp>
        <p:nvSpPr>
          <p:cNvPr id="5" name="Text 1"/>
          <p:cNvSpPr/>
          <p:nvPr/>
        </p:nvSpPr>
        <p:spPr>
          <a:xfrm>
            <a:off x="571500" y="7500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Treatment &amp; Demographics</a:t>
            </a:r>
            <a:endParaRPr lang="en-US" sz="3294" dirty="0"/>
          </a:p>
        </p:txBody>
      </p:sp>
      <p:sp>
        <p:nvSpPr>
          <p:cNvPr id="6" name="Shape 2"/>
          <p:cNvSpPr/>
          <p:nvPr/>
        </p:nvSpPr>
        <p:spPr>
          <a:xfrm>
            <a:off x="571500" y="1595903"/>
            <a:ext cx="2857500" cy="2484462"/>
          </a:xfrm>
          <a:prstGeom prst="rect">
            <a:avLst/>
          </a:prstGeom>
          <a:solidFill>
            <a:srgbClr val="3B82F6">
              <a:alpha val="5000"/>
            </a:srgbClr>
          </a:solidFill>
          <a:ln/>
        </p:spPr>
        <p:txBody>
          <a:bodyPr/>
          <a:lstStyle/>
          <a:p>
            <a:endParaRPr lang="en-US"/>
          </a:p>
        </p:txBody>
      </p:sp>
      <p:sp>
        <p:nvSpPr>
          <p:cNvPr id="7" name="Shape 3"/>
          <p:cNvSpPr/>
          <p:nvPr/>
        </p:nvSpPr>
        <p:spPr>
          <a:xfrm>
            <a:off x="571500" y="1595903"/>
            <a:ext cx="2857500" cy="28575"/>
          </a:xfrm>
          <a:prstGeom prst="rect">
            <a:avLst/>
          </a:prstGeom>
          <a:solidFill>
            <a:srgbClr val="3B82F6"/>
          </a:solidFill>
          <a:ln/>
        </p:spPr>
        <p:txBody>
          <a:bodyPr/>
          <a:lstStyle/>
          <a:p>
            <a:endParaRPr lang="en-US"/>
          </a:p>
        </p:txBody>
      </p:sp>
      <p:sp>
        <p:nvSpPr>
          <p:cNvPr id="8" name="Text 4"/>
          <p:cNvSpPr/>
          <p:nvPr/>
        </p:nvSpPr>
        <p:spPr>
          <a:xfrm>
            <a:off x="800100" y="1881653"/>
            <a:ext cx="2400300"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B0B3B8"/>
                </a:solidFill>
                <a:latin typeface="Inter" pitchFamily="34" charset="0"/>
                <a:ea typeface="Inter" pitchFamily="34" charset="-122"/>
                <a:cs typeface="Inter" pitchFamily="34" charset="-120"/>
              </a:rPr>
              <a:t>KEY OBSERVATION</a:t>
            </a:r>
            <a:endParaRPr lang="en-US" sz="885" dirty="0"/>
          </a:p>
        </p:txBody>
      </p:sp>
      <p:sp>
        <p:nvSpPr>
          <p:cNvPr id="9" name="Text 5"/>
          <p:cNvSpPr/>
          <p:nvPr/>
        </p:nvSpPr>
        <p:spPr>
          <a:xfrm>
            <a:off x="800100" y="2151329"/>
            <a:ext cx="1437894" cy="525785"/>
          </a:xfrm>
          <a:prstGeom prst="rect">
            <a:avLst/>
          </a:prstGeom>
          <a:noFill/>
          <a:ln/>
        </p:spPr>
        <p:txBody>
          <a:bodyPr wrap="none" lIns="0" tIns="0" rIns="0" bIns="0" rtlCol="0" anchor="t">
            <a:spAutoFit/>
          </a:bodyPr>
          <a:lstStyle/>
          <a:p>
            <a:pPr marL="0" indent="0" algn="l">
              <a:lnSpc>
                <a:spcPts val="4100"/>
              </a:lnSpc>
              <a:buNone/>
            </a:pPr>
            <a:r>
              <a:rPr lang="en-US" sz="3731" b="1" dirty="0">
                <a:solidFill>
                  <a:srgbClr val="FFFFFF"/>
                </a:solidFill>
                <a:latin typeface="Inter" pitchFamily="34" charset="0"/>
                <a:ea typeface="Inter" pitchFamily="34" charset="-122"/>
                <a:cs typeface="Inter" pitchFamily="34" charset="-120"/>
              </a:rPr>
              <a:t>20–49</a:t>
            </a:r>
            <a:endParaRPr lang="en-US" sz="3731" dirty="0"/>
          </a:p>
        </p:txBody>
      </p:sp>
      <p:sp>
        <p:nvSpPr>
          <p:cNvPr id="10" name="Text 6"/>
          <p:cNvSpPr/>
          <p:nvPr/>
        </p:nvSpPr>
        <p:spPr>
          <a:xfrm>
            <a:off x="800100" y="2837129"/>
            <a:ext cx="2400300" cy="635046"/>
          </a:xfrm>
          <a:prstGeom prst="rect">
            <a:avLst/>
          </a:prstGeom>
          <a:noFill/>
          <a:ln/>
        </p:spPr>
        <p:txBody>
          <a:bodyPr wrap="square" lIns="0" tIns="0" rIns="0" bIns="0" rtlCol="0" anchor="t">
            <a:spAutoFit/>
          </a:bodyPr>
          <a:lstStyle/>
          <a:p>
            <a:pPr>
              <a:lnSpc>
                <a:spcPts val="1700"/>
              </a:lnSpc>
            </a:pPr>
            <a:r>
              <a:rPr lang="en-US" sz="1050" dirty="0">
                <a:solidFill>
                  <a:srgbClr val="B0B3B8"/>
                </a:solidFill>
                <a:latin typeface="Inter" pitchFamily="34" charset="0"/>
                <a:ea typeface="Inter" pitchFamily="34" charset="-122"/>
              </a:rPr>
              <a:t>Younger and early-career respondents are more likely to seek mental health treatment compared to older workers.</a:t>
            </a:r>
          </a:p>
        </p:txBody>
      </p:sp>
      <p:pic>
        <p:nvPicPr>
          <p:cNvPr id="11" name="Image 1" descr="preencoded.png"/>
          <p:cNvPicPr>
            <a:picLocks noChangeAspect="1"/>
          </p:cNvPicPr>
          <p:nvPr/>
        </p:nvPicPr>
        <p:blipFill>
          <a:blip r:embed="rId4"/>
          <a:stretch>
            <a:fillRect/>
          </a:stretch>
        </p:blipFill>
        <p:spPr>
          <a:xfrm>
            <a:off x="3886200" y="1640551"/>
            <a:ext cx="214313" cy="171450"/>
          </a:xfrm>
          <a:prstGeom prst="rect">
            <a:avLst/>
          </a:prstGeom>
        </p:spPr>
      </p:pic>
      <p:sp>
        <p:nvSpPr>
          <p:cNvPr id="12" name="Text 7"/>
          <p:cNvSpPr/>
          <p:nvPr/>
        </p:nvSpPr>
        <p:spPr>
          <a:xfrm>
            <a:off x="4271963" y="1595903"/>
            <a:ext cx="4300538"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FFFF"/>
                </a:solidFill>
                <a:latin typeface="Inter" pitchFamily="34" charset="0"/>
                <a:ea typeface="Inter" pitchFamily="34" charset="-122"/>
                <a:cs typeface="Inter" pitchFamily="34" charset="-120"/>
              </a:rPr>
              <a:t>Gender Variance</a:t>
            </a:r>
            <a:endParaRPr lang="en-US" sz="1193" dirty="0"/>
          </a:p>
        </p:txBody>
      </p:sp>
      <p:sp>
        <p:nvSpPr>
          <p:cNvPr id="13" name="Text 8"/>
          <p:cNvSpPr/>
          <p:nvPr/>
        </p:nvSpPr>
        <p:spPr>
          <a:xfrm>
            <a:off x="4271963" y="1860221"/>
            <a:ext cx="4300538"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Female and non-binary respondents consistently report higher rates of seeking professional help compared to their male counterparts.</a:t>
            </a:r>
            <a:endParaRPr lang="en-US" sz="942" dirty="0"/>
          </a:p>
        </p:txBody>
      </p:sp>
      <p:pic>
        <p:nvPicPr>
          <p:cNvPr id="14" name="Image 2" descr="preencoded.png"/>
          <p:cNvPicPr>
            <a:picLocks noChangeAspect="1"/>
          </p:cNvPicPr>
          <p:nvPr/>
        </p:nvPicPr>
        <p:blipFill>
          <a:blip r:embed="rId5"/>
          <a:stretch>
            <a:fillRect/>
          </a:stretch>
        </p:blipFill>
        <p:spPr>
          <a:xfrm>
            <a:off x="3886200" y="2544905"/>
            <a:ext cx="171450" cy="171450"/>
          </a:xfrm>
          <a:prstGeom prst="rect">
            <a:avLst/>
          </a:prstGeom>
        </p:spPr>
      </p:pic>
      <p:sp>
        <p:nvSpPr>
          <p:cNvPr id="15" name="Text 9"/>
          <p:cNvSpPr/>
          <p:nvPr/>
        </p:nvSpPr>
        <p:spPr>
          <a:xfrm>
            <a:off x="4229100" y="2500257"/>
            <a:ext cx="434340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FFFF"/>
                </a:solidFill>
                <a:latin typeface="Inter" pitchFamily="34" charset="0"/>
                <a:ea typeface="Inter" pitchFamily="34" charset="-122"/>
                <a:cs typeface="Inter" pitchFamily="34" charset="-120"/>
              </a:rPr>
              <a:t>The Tipping Point</a:t>
            </a:r>
            <a:endParaRPr lang="en-US" sz="1193" dirty="0"/>
          </a:p>
        </p:txBody>
      </p:sp>
      <p:sp>
        <p:nvSpPr>
          <p:cNvPr id="16" name="Text 10"/>
          <p:cNvSpPr/>
          <p:nvPr/>
        </p:nvSpPr>
        <p:spPr>
          <a:xfrm>
            <a:off x="4229100" y="2764575"/>
            <a:ext cx="434340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A clear correlation exists where perceived work interference acts as a direct trigger for employees to transition from awareness to action.</a:t>
            </a:r>
            <a:endParaRPr lang="en-US" sz="942" dirty="0"/>
          </a:p>
        </p:txBody>
      </p:sp>
      <p:pic>
        <p:nvPicPr>
          <p:cNvPr id="17" name="Image 3" descr="preencoded.png"/>
          <p:cNvPicPr>
            <a:picLocks noChangeAspect="1"/>
          </p:cNvPicPr>
          <p:nvPr/>
        </p:nvPicPr>
        <p:blipFill>
          <a:blip r:embed="rId6"/>
          <a:stretch>
            <a:fillRect/>
          </a:stretch>
        </p:blipFill>
        <p:spPr>
          <a:xfrm>
            <a:off x="3886200" y="3449259"/>
            <a:ext cx="214313" cy="171450"/>
          </a:xfrm>
          <a:prstGeom prst="rect">
            <a:avLst/>
          </a:prstGeom>
        </p:spPr>
      </p:pic>
      <p:sp>
        <p:nvSpPr>
          <p:cNvPr id="18" name="Text 11"/>
          <p:cNvSpPr/>
          <p:nvPr/>
        </p:nvSpPr>
        <p:spPr>
          <a:xfrm>
            <a:off x="4271963" y="3404611"/>
            <a:ext cx="4300538"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FFFF"/>
                </a:solidFill>
                <a:latin typeface="Inter" pitchFamily="34" charset="0"/>
                <a:ea typeface="Inter" pitchFamily="34" charset="-122"/>
                <a:cs typeface="Inter" pitchFamily="34" charset="-120"/>
              </a:rPr>
              <a:t>Mid-Career Peak</a:t>
            </a:r>
            <a:endParaRPr lang="en-US" sz="1193" dirty="0"/>
          </a:p>
        </p:txBody>
      </p:sp>
      <p:sp>
        <p:nvSpPr>
          <p:cNvPr id="19" name="Text 12"/>
          <p:cNvSpPr/>
          <p:nvPr/>
        </p:nvSpPr>
        <p:spPr>
          <a:xfrm>
            <a:off x="4271963" y="3668930"/>
            <a:ext cx="4300538"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Treatment rates peak during mid-career years, potentially reflecting a combination of increased life pressure and greater health literacy.</a:t>
            </a:r>
            <a:endParaRPr lang="en-US" sz="942" dirty="0"/>
          </a:p>
        </p:txBody>
      </p:sp>
      <p:sp>
        <p:nvSpPr>
          <p:cNvPr id="20" name="Shape 13"/>
          <p:cNvSpPr/>
          <p:nvPr/>
        </p:nvSpPr>
        <p:spPr>
          <a:xfrm>
            <a:off x="0" y="4409480"/>
            <a:ext cx="9144000" cy="734020"/>
          </a:xfrm>
          <a:prstGeom prst="rect">
            <a:avLst/>
          </a:prstGeom>
          <a:solidFill>
            <a:srgbClr val="000000">
              <a:alpha val="0"/>
            </a:srgbClr>
          </a:solidFill>
          <a:ln/>
        </p:spPr>
        <p:txBody>
          <a:bodyPr/>
          <a:lstStyle/>
          <a:p>
            <a:endParaRPr lang="en-US"/>
          </a:p>
        </p:txBody>
      </p:sp>
      <p:sp>
        <p:nvSpPr>
          <p:cNvPr id="21" name="Shape 14"/>
          <p:cNvSpPr/>
          <p:nvPr/>
        </p:nvSpPr>
        <p:spPr>
          <a:xfrm>
            <a:off x="0" y="4409480"/>
            <a:ext cx="9144000" cy="7144"/>
          </a:xfrm>
          <a:prstGeom prst="rect">
            <a:avLst/>
          </a:prstGeom>
          <a:solidFill>
            <a:srgbClr val="FFFFFF"/>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571500" y="4715768"/>
            <a:ext cx="128588" cy="128588"/>
          </a:xfrm>
          <a:prstGeom prst="rect">
            <a:avLst/>
          </a:prstGeom>
        </p:spPr>
      </p:pic>
      <p:sp>
        <p:nvSpPr>
          <p:cNvPr id="23" name="Text 15"/>
          <p:cNvSpPr/>
          <p:nvPr/>
        </p:nvSpPr>
        <p:spPr>
          <a:xfrm>
            <a:off x="785813" y="4702373"/>
            <a:ext cx="5272088" cy="15537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3B82F6"/>
                </a:solidFill>
                <a:latin typeface="Inter" pitchFamily="34" charset="0"/>
                <a:ea typeface="Inter" pitchFamily="34" charset="-122"/>
                <a:cs typeface="Inter" pitchFamily="34" charset="-120"/>
              </a:rPr>
              <a:t>Demographic trends highlight the need for targeted, group-specific health initiatives.</a:t>
            </a:r>
            <a:endParaRPr lang="en-US" sz="88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8132"/>
          </a:xfrm>
          <a:prstGeom prst="rect">
            <a:avLst/>
          </a:prstGeom>
        </p:spPr>
      </p:pic>
      <p:sp>
        <p:nvSpPr>
          <p:cNvPr id="4" name="Text 0"/>
          <p:cNvSpPr/>
          <p:nvPr/>
        </p:nvSpPr>
        <p:spPr>
          <a:xfrm>
            <a:off x="571500" y="4572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ORGANIZATIONAL SUPPORT GAPS</a:t>
            </a:r>
            <a:endParaRPr lang="en-US" sz="1193" dirty="0"/>
          </a:p>
        </p:txBody>
      </p:sp>
      <p:sp>
        <p:nvSpPr>
          <p:cNvPr id="5" name="Text 1"/>
          <p:cNvSpPr/>
          <p:nvPr/>
        </p:nvSpPr>
        <p:spPr>
          <a:xfrm>
            <a:off x="571500" y="750094"/>
            <a:ext cx="5758821" cy="496226"/>
          </a:xfrm>
          <a:prstGeom prst="rect">
            <a:avLst/>
          </a:prstGeom>
          <a:noFill/>
          <a:ln/>
        </p:spPr>
        <p:txBody>
          <a:bodyPr wrap="none" lIns="0" tIns="0" rIns="0" bIns="0" rtlCol="0" anchor="t">
            <a:spAutoFit/>
          </a:bodyPr>
          <a:lstStyle/>
          <a:p>
            <a:pPr>
              <a:lnSpc>
                <a:spcPts val="4000"/>
              </a:lnSpc>
            </a:pPr>
            <a:r>
              <a:rPr lang="en-US" sz="3294" b="1" kern="0" spc="-1" dirty="0">
                <a:solidFill>
                  <a:srgbClr val="FFFFFF"/>
                </a:solidFill>
                <a:latin typeface="Inter" pitchFamily="34" charset="0"/>
                <a:ea typeface="Inter" pitchFamily="34" charset="-122"/>
                <a:cs typeface="Inter" pitchFamily="34" charset="-120"/>
              </a:rPr>
              <a:t>G</a:t>
            </a:r>
            <a:r>
              <a:rPr lang="en-US" altLang="zh-CN" sz="3294" b="1" kern="0" spc="-1" dirty="0">
                <a:solidFill>
                  <a:srgbClr val="FFFFFF"/>
                </a:solidFill>
                <a:latin typeface="Inter" pitchFamily="34" charset="0"/>
                <a:ea typeface="Inter" pitchFamily="34" charset="-122"/>
                <a:cs typeface="Inter" pitchFamily="34" charset="-120"/>
              </a:rPr>
              <a:t>ender gap in treatment seeking</a:t>
            </a:r>
            <a:endParaRPr lang="en-US" sz="3294" dirty="0"/>
          </a:p>
        </p:txBody>
      </p:sp>
      <p:sp>
        <p:nvSpPr>
          <p:cNvPr id="6" name="Text 2"/>
          <p:cNvSpPr/>
          <p:nvPr/>
        </p:nvSpPr>
        <p:spPr>
          <a:xfrm>
            <a:off x="571500" y="1710203"/>
            <a:ext cx="2394438" cy="872034"/>
          </a:xfrm>
          <a:prstGeom prst="rect">
            <a:avLst/>
          </a:prstGeom>
          <a:noFill/>
          <a:ln/>
        </p:spPr>
        <p:txBody>
          <a:bodyPr wrap="none" lIns="0" tIns="0" rIns="0" bIns="0" rtlCol="0" anchor="t">
            <a:spAutoFit/>
          </a:bodyPr>
          <a:lstStyle/>
          <a:p>
            <a:pPr marL="0" indent="0" algn="l">
              <a:lnSpc>
                <a:spcPts val="6800"/>
              </a:lnSpc>
              <a:buNone/>
            </a:pPr>
            <a:r>
              <a:rPr lang="en-US" sz="6218" b="1" dirty="0">
                <a:solidFill>
                  <a:srgbClr val="3B82F6"/>
                </a:solidFill>
                <a:latin typeface="Inter" pitchFamily="34" charset="0"/>
                <a:ea typeface="Inter" pitchFamily="34" charset="-122"/>
                <a:cs typeface="Inter" pitchFamily="34" charset="-120"/>
              </a:rPr>
              <a:t>Female</a:t>
            </a:r>
            <a:endParaRPr lang="en-US" sz="6218" dirty="0"/>
          </a:p>
        </p:txBody>
      </p:sp>
      <p:sp>
        <p:nvSpPr>
          <p:cNvPr id="7" name="Text 3"/>
          <p:cNvSpPr/>
          <p:nvPr/>
        </p:nvSpPr>
        <p:spPr>
          <a:xfrm>
            <a:off x="571500" y="2681753"/>
            <a:ext cx="888064" cy="22999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Gender Gap</a:t>
            </a:r>
            <a:endParaRPr lang="en-US" sz="1397" dirty="0"/>
          </a:p>
        </p:txBody>
      </p:sp>
      <p:sp>
        <p:nvSpPr>
          <p:cNvPr id="8" name="Text 4"/>
          <p:cNvSpPr/>
          <p:nvPr/>
        </p:nvSpPr>
        <p:spPr>
          <a:xfrm>
            <a:off x="571500" y="3010365"/>
            <a:ext cx="3479006" cy="596125"/>
          </a:xfrm>
          <a:prstGeom prst="rect">
            <a:avLst/>
          </a:prstGeom>
          <a:noFill/>
          <a:ln/>
        </p:spPr>
        <p:txBody>
          <a:bodyPr wrap="square" lIns="0" tIns="0" rIns="0" bIns="0" rtlCol="0" anchor="t">
            <a:spAutoFit/>
          </a:bodyPr>
          <a:lstStyle/>
          <a:p>
            <a:pPr>
              <a:lnSpc>
                <a:spcPts val="1600"/>
              </a:lnSpc>
            </a:pPr>
            <a:r>
              <a:rPr lang="en-US" sz="942" dirty="0">
                <a:solidFill>
                  <a:srgbClr val="B0B3B8"/>
                </a:solidFill>
                <a:latin typeface="Inter" pitchFamily="34" charset="0"/>
                <a:ea typeface="Inter" pitchFamily="34" charset="-122"/>
              </a:rPr>
              <a:t>Female respondents consistently report higher mental health treatment rates than male respondents across age groups, suggesting gender differences in help-seeking behavior.</a:t>
            </a:r>
          </a:p>
        </p:txBody>
      </p:sp>
      <p:sp>
        <p:nvSpPr>
          <p:cNvPr id="9" name="Shape 5"/>
          <p:cNvSpPr/>
          <p:nvPr/>
        </p:nvSpPr>
        <p:spPr>
          <a:xfrm>
            <a:off x="4507706" y="1538753"/>
            <a:ext cx="4064794" cy="2857500"/>
          </a:xfrm>
          <a:prstGeom prst="rect">
            <a:avLst/>
          </a:prstGeom>
          <a:solidFill>
            <a:srgbClr val="FFFFFF">
              <a:alpha val="3000"/>
            </a:srgbClr>
          </a:solidFill>
          <a:ln w="9144">
            <a:solidFill>
              <a:srgbClr val="FFFFFF">
                <a:alpha val="8000"/>
              </a:srgbClr>
            </a:solidFill>
            <a:prstDash val="solid"/>
          </a:ln>
        </p:spPr>
        <p:txBody>
          <a:bodyPr/>
          <a:lstStyle/>
          <a:p>
            <a:endParaRPr lang="en-US"/>
          </a:p>
        </p:txBody>
      </p:sp>
      <p:sp>
        <p:nvSpPr>
          <p:cNvPr id="10" name="Text 6"/>
          <p:cNvSpPr/>
          <p:nvPr/>
        </p:nvSpPr>
        <p:spPr>
          <a:xfrm>
            <a:off x="4800600" y="1881653"/>
            <a:ext cx="1226298" cy="194284"/>
          </a:xfrm>
          <a:prstGeom prst="rect">
            <a:avLst/>
          </a:prstGeom>
          <a:noFill/>
          <a:ln/>
        </p:spPr>
        <p:txBody>
          <a:bodyPr wrap="none" lIns="0" tIns="0" rIns="0" bIns="0" rtlCol="0" anchor="t">
            <a:spAutoFit/>
          </a:bodyPr>
          <a:lstStyle/>
          <a:p>
            <a:pPr>
              <a:lnSpc>
                <a:spcPts val="1600"/>
              </a:lnSpc>
            </a:pPr>
            <a:r>
              <a:rPr lang="en-US" sz="1193" b="1" dirty="0">
                <a:solidFill>
                  <a:srgbClr val="FFFFFF"/>
                </a:solidFill>
                <a:latin typeface="Inter" pitchFamily="34" charset="0"/>
                <a:ea typeface="Inter" pitchFamily="34" charset="-122"/>
              </a:rPr>
              <a:t>Gender Differences</a:t>
            </a:r>
          </a:p>
        </p:txBody>
      </p:sp>
      <p:sp>
        <p:nvSpPr>
          <p:cNvPr id="11" name="Text 7"/>
          <p:cNvSpPr/>
          <p:nvPr/>
        </p:nvSpPr>
        <p:spPr>
          <a:xfrm>
            <a:off x="4800600" y="2145971"/>
            <a:ext cx="3486150" cy="368499"/>
          </a:xfrm>
          <a:prstGeom prst="rect">
            <a:avLst/>
          </a:prstGeom>
          <a:noFill/>
          <a:ln/>
        </p:spPr>
        <p:txBody>
          <a:bodyPr wrap="square" lIns="0" tIns="0" rIns="0" bIns="0" rtlCol="0" anchor="t">
            <a:spAutoFit/>
          </a:bodyPr>
          <a:lstStyle/>
          <a:p>
            <a:pPr>
              <a:lnSpc>
                <a:spcPts val="1500"/>
              </a:lnSpc>
            </a:pPr>
            <a:r>
              <a:rPr lang="en-US" sz="942" dirty="0">
                <a:solidFill>
                  <a:srgbClr val="B0B3B8"/>
                </a:solidFill>
                <a:latin typeface="Inter" pitchFamily="34" charset="0"/>
                <a:ea typeface="Inter" pitchFamily="34" charset="-122"/>
              </a:rPr>
              <a:t>Females consistently report higher mental health treatment rates than males across all age groups.</a:t>
            </a:r>
          </a:p>
        </p:txBody>
      </p:sp>
      <p:sp>
        <p:nvSpPr>
          <p:cNvPr id="12" name="Text 8"/>
          <p:cNvSpPr/>
          <p:nvPr/>
        </p:nvSpPr>
        <p:spPr>
          <a:xfrm>
            <a:off x="4800600" y="2953215"/>
            <a:ext cx="1726435" cy="194284"/>
          </a:xfrm>
          <a:prstGeom prst="rect">
            <a:avLst/>
          </a:prstGeom>
          <a:noFill/>
          <a:ln/>
        </p:spPr>
        <p:txBody>
          <a:bodyPr wrap="none" lIns="0" tIns="0" rIns="0" bIns="0" rtlCol="0" anchor="t">
            <a:spAutoFit/>
          </a:bodyPr>
          <a:lstStyle/>
          <a:p>
            <a:pPr>
              <a:lnSpc>
                <a:spcPts val="1600"/>
              </a:lnSpc>
            </a:pPr>
            <a:r>
              <a:rPr lang="en-US" sz="1193" b="1" dirty="0">
                <a:solidFill>
                  <a:srgbClr val="FFFFFF"/>
                </a:solidFill>
                <a:latin typeface="Inter" pitchFamily="34" charset="0"/>
                <a:ea typeface="Inter" pitchFamily="34" charset="-122"/>
              </a:rPr>
              <a:t>Non-binary Representation</a:t>
            </a:r>
          </a:p>
        </p:txBody>
      </p:sp>
      <p:sp>
        <p:nvSpPr>
          <p:cNvPr id="13" name="Text 9"/>
          <p:cNvSpPr/>
          <p:nvPr/>
        </p:nvSpPr>
        <p:spPr>
          <a:xfrm>
            <a:off x="4800600" y="3217534"/>
            <a:ext cx="3486150" cy="560859"/>
          </a:xfrm>
          <a:prstGeom prst="rect">
            <a:avLst/>
          </a:prstGeom>
          <a:noFill/>
          <a:ln/>
        </p:spPr>
        <p:txBody>
          <a:bodyPr wrap="square" lIns="0" tIns="0" rIns="0" bIns="0" rtlCol="0" anchor="t">
            <a:spAutoFit/>
          </a:bodyPr>
          <a:lstStyle/>
          <a:p>
            <a:pPr>
              <a:lnSpc>
                <a:spcPts val="1500"/>
              </a:lnSpc>
            </a:pPr>
            <a:r>
              <a:rPr lang="en-US" sz="942">
                <a:solidFill>
                  <a:srgbClr val="B0B3B8"/>
                </a:solidFill>
                <a:latin typeface="Inter" pitchFamily="34" charset="0"/>
                <a:ea typeface="Inter" pitchFamily="34" charset="-122"/>
              </a:rPr>
              <a:t>In </a:t>
            </a:r>
            <a:r>
              <a:rPr lang="en-US" sz="942" dirty="0">
                <a:solidFill>
                  <a:srgbClr val="B0B3B8"/>
                </a:solidFill>
                <a:latin typeface="Inter" pitchFamily="34" charset="0"/>
                <a:ea typeface="Inter" pitchFamily="34" charset="-122"/>
              </a:rPr>
              <a:t>several age groups, non-binary individuals show the highest treatment rates, suggesting a greater need for mental health support within this population.</a:t>
            </a:r>
          </a:p>
        </p:txBody>
      </p:sp>
      <p:sp>
        <p:nvSpPr>
          <p:cNvPr id="14" name="Shape 10"/>
          <p:cNvSpPr/>
          <p:nvPr/>
        </p:nvSpPr>
        <p:spPr>
          <a:xfrm>
            <a:off x="0" y="4396253"/>
            <a:ext cx="9144000" cy="751880"/>
          </a:xfrm>
          <a:prstGeom prst="rect">
            <a:avLst/>
          </a:prstGeom>
          <a:solidFill>
            <a:srgbClr val="000000">
              <a:alpha val="0"/>
            </a:srgbClr>
          </a:solidFill>
          <a:ln/>
        </p:spPr>
        <p:txBody>
          <a:bodyPr/>
          <a:lstStyle/>
          <a:p>
            <a:endParaRPr lang="en-US"/>
          </a:p>
        </p:txBody>
      </p:sp>
      <p:sp>
        <p:nvSpPr>
          <p:cNvPr id="15" name="Shape 11"/>
          <p:cNvSpPr/>
          <p:nvPr/>
        </p:nvSpPr>
        <p:spPr>
          <a:xfrm>
            <a:off x="0" y="4396253"/>
            <a:ext cx="9144000" cy="7144"/>
          </a:xfrm>
          <a:prstGeom prst="rect">
            <a:avLst/>
          </a:prstGeom>
          <a:solidFill>
            <a:srgbClr val="FFFFFF"/>
          </a:solidFill>
          <a:ln/>
        </p:spPr>
        <p:txBody>
          <a:bodyPr/>
          <a:lstStyle/>
          <a:p>
            <a:endParaRPr lang="en-US"/>
          </a:p>
        </p:txBody>
      </p:sp>
      <p:sp>
        <p:nvSpPr>
          <p:cNvPr id="16" name="Text 12"/>
          <p:cNvSpPr/>
          <p:nvPr/>
        </p:nvSpPr>
        <p:spPr>
          <a:xfrm>
            <a:off x="571500" y="4627364"/>
            <a:ext cx="8001000" cy="173236"/>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FFFF"/>
                </a:solidFill>
                <a:latin typeface="Inter" pitchFamily="34" charset="0"/>
                <a:ea typeface="Inter" pitchFamily="34" charset="-122"/>
                <a:cs typeface="Inter" pitchFamily="34" charset="-120"/>
              </a:rPr>
              <a:t>Benefits awareness is as critical as availability; </a:t>
            </a:r>
            <a:r>
              <a:rPr lang="en-US" sz="987" b="1" dirty="0">
                <a:solidFill>
                  <a:srgbClr val="3B82F6"/>
                </a:solidFill>
                <a:latin typeface="Inter" pitchFamily="34" charset="0"/>
                <a:ea typeface="Inter" pitchFamily="34" charset="-122"/>
                <a:cs typeface="Inter" pitchFamily="34" charset="-120"/>
              </a:rPr>
              <a:t>transparency drives utilization.</a:t>
            </a:r>
            <a:endParaRPr lang="en-US" sz="98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571500"/>
            <a:ext cx="8001000" cy="207169"/>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3B82F6"/>
                </a:solidFill>
                <a:latin typeface="Inter" pitchFamily="34" charset="0"/>
                <a:ea typeface="Inter" pitchFamily="34" charset="-122"/>
                <a:cs typeface="Inter" pitchFamily="34" charset="-120"/>
              </a:rPr>
              <a:t>STRATEGIC ROADMAP</a:t>
            </a:r>
            <a:endParaRPr lang="en-US" sz="1193" dirty="0"/>
          </a:p>
        </p:txBody>
      </p:sp>
      <p:sp>
        <p:nvSpPr>
          <p:cNvPr id="5" name="Text 1"/>
          <p:cNvSpPr/>
          <p:nvPr/>
        </p:nvSpPr>
        <p:spPr>
          <a:xfrm>
            <a:off x="571500" y="864394"/>
            <a:ext cx="8001000" cy="502909"/>
          </a:xfrm>
          <a:prstGeom prst="rect">
            <a:avLst/>
          </a:prstGeom>
          <a:noFill/>
          <a:ln/>
        </p:spPr>
        <p:txBody>
          <a:bodyPr wrap="none" lIns="0" tIns="0" rIns="0" bIns="0" rtlCol="0" anchor="t">
            <a:spAutoFit/>
          </a:bodyPr>
          <a:lstStyle/>
          <a:p>
            <a:pPr marL="0" indent="0" algn="l">
              <a:lnSpc>
                <a:spcPts val="4000"/>
              </a:lnSpc>
              <a:buNone/>
            </a:pPr>
            <a:r>
              <a:rPr lang="en-US" sz="3294" b="1" kern="0" spc="-1" dirty="0">
                <a:solidFill>
                  <a:srgbClr val="FFFFFF"/>
                </a:solidFill>
                <a:latin typeface="Inter" pitchFamily="34" charset="0"/>
                <a:ea typeface="Inter" pitchFamily="34" charset="-122"/>
                <a:cs typeface="Inter" pitchFamily="34" charset="-120"/>
              </a:rPr>
              <a:t>Recommendations &amp; Conclusion</a:t>
            </a:r>
            <a:endParaRPr lang="en-US" sz="3294" dirty="0"/>
          </a:p>
        </p:txBody>
      </p:sp>
      <p:sp>
        <p:nvSpPr>
          <p:cNvPr id="6" name="Shape 2"/>
          <p:cNvSpPr/>
          <p:nvPr/>
        </p:nvSpPr>
        <p:spPr>
          <a:xfrm>
            <a:off x="571500" y="1824503"/>
            <a:ext cx="400050" cy="400050"/>
          </a:xfrm>
          <a:prstGeom prst="ellipse">
            <a:avLst/>
          </a:prstGeom>
          <a:solidFill>
            <a:srgbClr val="3B82F6">
              <a:alpha val="10000"/>
            </a:srgbClr>
          </a:solidFill>
          <a:ln w="9144">
            <a:solidFill>
              <a:srgbClr val="3B82F6">
                <a:alpha val="30000"/>
              </a:srgbClr>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85800" y="1938803"/>
            <a:ext cx="171450" cy="171450"/>
          </a:xfrm>
          <a:prstGeom prst="rect">
            <a:avLst/>
          </a:prstGeom>
        </p:spPr>
      </p:pic>
      <p:sp>
        <p:nvSpPr>
          <p:cNvPr id="8" name="Text 3"/>
          <p:cNvSpPr/>
          <p:nvPr/>
        </p:nvSpPr>
        <p:spPr>
          <a:xfrm>
            <a:off x="571500" y="2396003"/>
            <a:ext cx="2438391"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Communication</a:t>
            </a:r>
            <a:endParaRPr lang="en-US" sz="1397" dirty="0"/>
          </a:p>
        </p:txBody>
      </p:sp>
      <p:sp>
        <p:nvSpPr>
          <p:cNvPr id="9" name="Text 4"/>
          <p:cNvSpPr/>
          <p:nvPr/>
        </p:nvSpPr>
        <p:spPr>
          <a:xfrm>
            <a:off x="571500" y="2753190"/>
            <a:ext cx="243839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Implement clear, regular messaging regarding available mental health resources to bridge the awareness gap.</a:t>
            </a:r>
            <a:endParaRPr lang="en-US" sz="942" dirty="0"/>
          </a:p>
        </p:txBody>
      </p:sp>
      <p:sp>
        <p:nvSpPr>
          <p:cNvPr id="10" name="Shape 5"/>
          <p:cNvSpPr/>
          <p:nvPr/>
        </p:nvSpPr>
        <p:spPr>
          <a:xfrm>
            <a:off x="3352791" y="1824503"/>
            <a:ext cx="400050" cy="400050"/>
          </a:xfrm>
          <a:prstGeom prst="ellipse">
            <a:avLst/>
          </a:prstGeom>
          <a:solidFill>
            <a:srgbClr val="3B82F6">
              <a:alpha val="10000"/>
            </a:srgbClr>
          </a:solidFill>
          <a:ln w="9144">
            <a:solidFill>
              <a:srgbClr val="3B82F6">
                <a:alpha val="30000"/>
              </a:srgbClr>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3445659" y="1938803"/>
            <a:ext cx="214313" cy="171450"/>
          </a:xfrm>
          <a:prstGeom prst="rect">
            <a:avLst/>
          </a:prstGeom>
        </p:spPr>
      </p:pic>
      <p:sp>
        <p:nvSpPr>
          <p:cNvPr id="12" name="Text 6"/>
          <p:cNvSpPr/>
          <p:nvPr/>
        </p:nvSpPr>
        <p:spPr>
          <a:xfrm>
            <a:off x="3352791" y="2396003"/>
            <a:ext cx="2438391"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Tailored Programs</a:t>
            </a:r>
            <a:endParaRPr lang="en-US" sz="1397" dirty="0"/>
          </a:p>
        </p:txBody>
      </p:sp>
      <p:sp>
        <p:nvSpPr>
          <p:cNvPr id="13" name="Text 7"/>
          <p:cNvSpPr/>
          <p:nvPr/>
        </p:nvSpPr>
        <p:spPr>
          <a:xfrm>
            <a:off x="3352791" y="2753190"/>
            <a:ext cx="2438391" cy="822871"/>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Design support initiatives that address the specific needs of different demographic segments and company sizes.</a:t>
            </a:r>
            <a:endParaRPr lang="en-US" sz="942" dirty="0"/>
          </a:p>
        </p:txBody>
      </p:sp>
      <p:sp>
        <p:nvSpPr>
          <p:cNvPr id="14" name="Shape 8"/>
          <p:cNvSpPr/>
          <p:nvPr/>
        </p:nvSpPr>
        <p:spPr>
          <a:xfrm>
            <a:off x="6134081" y="1824503"/>
            <a:ext cx="400050" cy="400050"/>
          </a:xfrm>
          <a:prstGeom prst="ellipse">
            <a:avLst/>
          </a:prstGeom>
          <a:solidFill>
            <a:srgbClr val="3B82F6">
              <a:alpha val="10000"/>
            </a:srgbClr>
          </a:solidFill>
          <a:ln w="9144">
            <a:solidFill>
              <a:srgbClr val="3B82F6">
                <a:alpha val="30000"/>
              </a:srgbClr>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6237666" y="1938803"/>
            <a:ext cx="192881" cy="171450"/>
          </a:xfrm>
          <a:prstGeom prst="rect">
            <a:avLst/>
          </a:prstGeom>
        </p:spPr>
      </p:pic>
      <p:sp>
        <p:nvSpPr>
          <p:cNvPr id="16" name="Text 9"/>
          <p:cNvSpPr/>
          <p:nvPr/>
        </p:nvSpPr>
        <p:spPr>
          <a:xfrm>
            <a:off x="6134081" y="2396003"/>
            <a:ext cx="2438391" cy="24288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FFFF"/>
                </a:solidFill>
                <a:latin typeface="Inter" pitchFamily="34" charset="0"/>
                <a:ea typeface="Inter" pitchFamily="34" charset="-122"/>
                <a:cs typeface="Inter" pitchFamily="34" charset="-120"/>
              </a:rPr>
              <a:t>Culture First</a:t>
            </a:r>
            <a:endParaRPr lang="en-US" sz="1397" dirty="0"/>
          </a:p>
        </p:txBody>
      </p:sp>
      <p:sp>
        <p:nvSpPr>
          <p:cNvPr id="17" name="Text 10"/>
          <p:cNvSpPr/>
          <p:nvPr/>
        </p:nvSpPr>
        <p:spPr>
          <a:xfrm>
            <a:off x="6134081" y="2753190"/>
            <a:ext cx="2438391"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B0B3B8"/>
                </a:solidFill>
                <a:latin typeface="Inter" pitchFamily="34" charset="0"/>
                <a:ea typeface="Inter" pitchFamily="34" charset="-122"/>
                <a:cs typeface="Inter" pitchFamily="34" charset="-120"/>
              </a:rPr>
              <a:t>Focus on reducing stigma to encourage early intervention before health issues reach a critical tipping point.</a:t>
            </a:r>
            <a:endParaRPr lang="en-US" sz="942" dirty="0"/>
          </a:p>
        </p:txBody>
      </p:sp>
      <p:sp>
        <p:nvSpPr>
          <p:cNvPr id="18" name="Shape 11"/>
          <p:cNvSpPr/>
          <p:nvPr/>
        </p:nvSpPr>
        <p:spPr>
          <a:xfrm>
            <a:off x="571500" y="4071938"/>
            <a:ext cx="8001000" cy="614363"/>
          </a:xfrm>
          <a:prstGeom prst="rect">
            <a:avLst/>
          </a:prstGeom>
          <a:solidFill>
            <a:srgbClr val="FFFFFF">
              <a:alpha val="3000"/>
            </a:srgbClr>
          </a:solidFill>
          <a:ln/>
        </p:spPr>
        <p:txBody>
          <a:bodyPr/>
          <a:lstStyle/>
          <a:p>
            <a:endParaRPr lang="en-US"/>
          </a:p>
        </p:txBody>
      </p:sp>
      <p:sp>
        <p:nvSpPr>
          <p:cNvPr id="19" name="Shape 12"/>
          <p:cNvSpPr/>
          <p:nvPr/>
        </p:nvSpPr>
        <p:spPr>
          <a:xfrm>
            <a:off x="571500" y="4071938"/>
            <a:ext cx="8001000" cy="7144"/>
          </a:xfrm>
          <a:prstGeom prst="rect">
            <a:avLst/>
          </a:prstGeom>
          <a:solidFill>
            <a:srgbClr val="FFFFFF"/>
          </a:solidFill>
          <a:ln/>
        </p:spPr>
        <p:txBody>
          <a:bodyPr/>
          <a:lstStyle/>
          <a:p>
            <a:endParaRPr lang="en-US"/>
          </a:p>
        </p:txBody>
      </p:sp>
      <p:sp>
        <p:nvSpPr>
          <p:cNvPr id="20" name="Text 13"/>
          <p:cNvSpPr/>
          <p:nvPr/>
        </p:nvSpPr>
        <p:spPr>
          <a:xfrm>
            <a:off x="571500" y="4307681"/>
            <a:ext cx="917302" cy="378619"/>
          </a:xfrm>
          <a:prstGeom prst="rect">
            <a:avLst/>
          </a:prstGeom>
          <a:noFill/>
          <a:ln/>
        </p:spPr>
        <p:txBody>
          <a:bodyPr wrap="square" lIns="0" tIns="0" rIns="0" bIns="0" rtlCol="0" anchor="t">
            <a:spAutoFit/>
          </a:bodyPr>
          <a:lstStyle/>
          <a:p>
            <a:pPr marL="0" indent="0" algn="l">
              <a:lnSpc>
                <a:spcPts val="1500"/>
              </a:lnSpc>
              <a:buNone/>
            </a:pPr>
            <a:r>
              <a:rPr lang="en-US" sz="1090" b="1" dirty="0">
                <a:solidFill>
                  <a:srgbClr val="3B82F6"/>
                </a:solidFill>
                <a:latin typeface="Inter" pitchFamily="34" charset="0"/>
                <a:ea typeface="Inter" pitchFamily="34" charset="-122"/>
                <a:cs typeface="Inter" pitchFamily="34" charset="-120"/>
              </a:rPr>
              <a:t>Final Insight:</a:t>
            </a:r>
            <a:endParaRPr lang="en-US" sz="1090" dirty="0"/>
          </a:p>
        </p:txBody>
      </p:sp>
      <p:sp>
        <p:nvSpPr>
          <p:cNvPr id="21" name="Text 14"/>
          <p:cNvSpPr/>
          <p:nvPr/>
        </p:nvSpPr>
        <p:spPr>
          <a:xfrm>
            <a:off x="1603102" y="4307681"/>
            <a:ext cx="6969398" cy="378619"/>
          </a:xfrm>
          <a:prstGeom prst="rect">
            <a:avLst/>
          </a:prstGeom>
          <a:noFill/>
          <a:ln/>
        </p:spPr>
        <p:txBody>
          <a:bodyPr wrap="square" lIns="0" tIns="0" rIns="0" bIns="0" rtlCol="0" anchor="t">
            <a:spAutoFit/>
          </a:bodyPr>
          <a:lstStyle/>
          <a:p>
            <a:pPr marL="0" indent="0" algn="l">
              <a:lnSpc>
                <a:spcPts val="1500"/>
              </a:lnSpc>
              <a:buNone/>
            </a:pPr>
            <a:r>
              <a:rPr lang="en-US" sz="1090" b="1" dirty="0">
                <a:solidFill>
                  <a:srgbClr val="3B82F6"/>
                </a:solidFill>
                <a:latin typeface="Inter" pitchFamily="34" charset="0"/>
                <a:ea typeface="Inter" pitchFamily="34" charset="-122"/>
                <a:cs typeface="Inter" pitchFamily="34" charset="-120"/>
              </a:rPr>
              <a:t>Transparency, targeted support, and cultural normalization are the pillars of a healthy workplace.</a:t>
            </a:r>
            <a:endParaRPr lang="en-US" sz="10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1336</Words>
  <Application>Microsoft Office PowerPoint</Application>
  <PresentationFormat>On-screen Show (16:9)</PresentationFormat>
  <Paragraphs>101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peter sun</cp:lastModifiedBy>
  <cp:revision>10</cp:revision>
  <dcterms:created xsi:type="dcterms:W3CDTF">2026-03-10T05:28:47Z</dcterms:created>
  <dcterms:modified xsi:type="dcterms:W3CDTF">2026-03-10T05:42:11Z</dcterms:modified>
</cp:coreProperties>
</file>